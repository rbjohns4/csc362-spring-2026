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  <p:sldMasterId id="2147483673" r:id="rId2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 type="screen16x9"/>
  <p:notesSz cx="6858000" cy="9144000"/>
  <p:embeddedFontLst>
    <p:embeddedFont>
      <p:font typeface="Georgia" panose="02040502050405020303" pitchFamily="18" charset="0"/>
      <p:regular r:id="rId14"/>
      <p:bold r:id="rId15"/>
      <p:italic r:id="rId16"/>
      <p:boldItalic r:id="rId17"/>
    </p:embeddedFont>
    <p:embeddedFont>
      <p:font typeface="Ubuntu Mono" panose="020B0509030602030204" pitchFamily="49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9097" autoAdjust="0"/>
  </p:normalViewPr>
  <p:slideViewPr>
    <p:cSldViewPr snapToGrid="0">
      <p:cViewPr varScale="1">
        <p:scale>
          <a:sx n="83" d="100"/>
          <a:sy n="83" d="100"/>
        </p:scale>
        <p:origin x="1378" y="53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1.xml"/><Relationship Id="rId21" Type="http://schemas.openxmlformats.org/officeDocument/2006/relationships/font" Target="fonts/font8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font" Target="fonts/font6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5fdb7f671e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5fdb7f671e_0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90ec11d88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90ec11d88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About This Class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Purpose</a:t>
            </a:r>
            <a:r>
              <a:rPr lang="en-US" dirty="0"/>
              <a:t>: Teaches how programs interact with the system.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Focus</a:t>
            </a:r>
            <a:r>
              <a:rPr lang="en-US" dirty="0"/>
              <a:t>: Very programming-oriented; theory is reserved for CSC 462.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Linux</a:t>
            </a:r>
            <a:r>
              <a:rPr lang="en-US" dirty="0"/>
              <a:t>: Provides significant experience with Linux, though concepts are generally portable.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Requirements</a:t>
            </a:r>
            <a:r>
              <a:rPr lang="en-US" dirty="0"/>
              <a:t>: Required for CS majors (Fall 2020 or later); otherwise, an upper-level elective.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Progression</a:t>
            </a:r>
            <a:r>
              <a:rPr lang="en-US" dirty="0"/>
              <a:t>: Prerequisite for CSC 462 and CSC 481.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Style</a:t>
            </a:r>
            <a:r>
              <a:rPr lang="en-US" dirty="0"/>
              <a:t>: Very hands-on with in-class activities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/>
              <a:t>---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Course Objectives and Structure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Primary Focus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The course is designed to teach how programs interact with the system. It is highly programming-oriented, while the theoretical foundations are reserved for CSC 462.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Instructional Style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The class follows a traditional format including lectures and discussions but is "light" on slides and "heavy" on practical examples.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Hands-on Learning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Students will participate in in-class activities followed by discussion of the solutions.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Resource Management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All example code is hosted on GitHub. Students are encouraged to download code to follow along, and final versions are pushed back for study and review.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af8cd6477e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af8cd6477e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Class Structure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Format</a:t>
            </a:r>
            <a:r>
              <a:rPr lang="en-US" dirty="0"/>
              <a:t>: Traditional lecture, examples, and discussions.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Activities</a:t>
            </a:r>
            <a:r>
              <a:rPr lang="en-US" dirty="0"/>
              <a:t>: In-class activities followed by solution discussions.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Materials</a:t>
            </a:r>
            <a:r>
              <a:rPr lang="en-US" dirty="0"/>
              <a:t>: Minimal PowerPoint; heavy emphasis on example code.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GitHub</a:t>
            </a:r>
            <a:r>
              <a:rPr lang="en-US" dirty="0"/>
              <a:t>: Example code is hosted on GitHub for students to download and follow along.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Review</a:t>
            </a:r>
            <a:r>
              <a:rPr lang="en-US" dirty="0"/>
              <a:t>: Final code versions are pushed to GitHub for study purposes.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af8cd6477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af8cd6477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Status Check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Current Status</a:t>
            </a:r>
            <a:r>
              <a:rPr lang="en-US" dirty="0"/>
              <a:t>: This is the first class; nothing was due before now.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Agenda</a:t>
            </a:r>
            <a:r>
              <a:rPr lang="en-US" dirty="0"/>
              <a:t>: Syllabus review, role of the OS, use of Virtual Machines (VMs), and infrastructure demos (Linux VM and GitHub).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Upcoming Tasks (Before Friday)</a:t>
            </a:r>
            <a:r>
              <a:rPr lang="en-US" dirty="0"/>
              <a:t>: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Set up a GitHub account.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Install the class VM.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(Optional) Set up SSH authentication between the VM and GitHub.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af8cd6477e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af8cd6477e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Syllabus Review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Key Highlights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Covers meetings, office hours, email, and prerequisites (CPU operation/programming basics).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Course Logistics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Includes Canvas structure, the student-written wiki "book," assignment types, grading weights, late policies, and professionalism.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af8cd6477e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af8cd6477e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The Role of the Operating System</a:t>
            </a:r>
            <a:br>
              <a:rPr lang="en-US" b="1" dirty="0"/>
            </a:br>
            <a:endParaRPr lang="en-US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System Interface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CSC 362: This class focuses on how user programs interface with the kernel and the services it provides.</a:t>
            </a:r>
            <a:br>
              <a:rPr lang="en-US" dirty="0"/>
            </a:br>
            <a:r>
              <a:rPr lang="en-US" dirty="0"/>
              <a:t>CSC 462 focuses on kernel </a:t>
            </a:r>
            <a:r>
              <a:rPr lang="en" sz="1100" dirty="0"/>
              <a:t>implementation principles and theory.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Abstraction: </a:t>
            </a:r>
            <a:r>
              <a:rPr lang="en-US" b="0" dirty="0"/>
              <a:t>Focuses on layers of abstraction.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Operating System Kernel &amp; Hardware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Device Drivers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These abstract specific hardware into generic, type-specific interfaces.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The Kernel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Acts as the intermediary between user programs and the abstracted hardware interfaces.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System Calls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These are the specific requests user programs make to access system services.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af8cd6477e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af8cd6477e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Virtualization and the Class Environment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Virtual Machine (VM) Mechanics</a:t>
            </a:r>
            <a:r>
              <a:rPr lang="en-US" dirty="0"/>
              <a:t>: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Simulation</a:t>
            </a:r>
            <a:r>
              <a:rPr lang="en-US" dirty="0"/>
              <a:t>: VMs simulate the hardware layer.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The "Matrix" Effect</a:t>
            </a:r>
            <a:r>
              <a:rPr lang="en-US" dirty="0"/>
              <a:t>: Because the kernel uses drivers to interface with hardware, it often does not know it is in a simulated environment.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Trade-offs</a:t>
            </a:r>
            <a:r>
              <a:rPr lang="en-US" dirty="0"/>
              <a:t>: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Advantages</a:t>
            </a:r>
            <a:r>
              <a:rPr lang="en-US" dirty="0"/>
              <a:t>: Efficient hardware use in data centers and a consistent "playground" for students.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Disadvantages</a:t>
            </a:r>
            <a:r>
              <a:rPr lang="en-US" dirty="0"/>
              <a:t>: Higher RAM and storage demands, and the need for custom drivers to maintain efficiency.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Architecture</a:t>
            </a:r>
            <a:r>
              <a:rPr lang="en-US" dirty="0"/>
              <a:t>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Illustrates the relationship between the host system (physical hardware/OS) and the guest system (VM) managed by a Virtual Machine Monitor.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/>
              <a:t>---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Figure Long-form Description: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Virtualization Hierarchy Diagram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 technical diagram showing the relationship between a </a:t>
            </a:r>
            <a:r>
              <a:rPr lang="en-US" b="1" dirty="0"/>
              <a:t>Host system</a:t>
            </a:r>
            <a:r>
              <a:rPr lang="en-US" dirty="0"/>
              <a:t> and a </a:t>
            </a:r>
            <a:r>
              <a:rPr lang="en-US" b="1" dirty="0"/>
              <a:t>Guest system</a:t>
            </a:r>
            <a:r>
              <a:rPr lang="en-US" dirty="0"/>
              <a:t> in a virtualized environment.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Host System: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Occupies the upper half, featuring physical hardware (keyboard, hard drive, network cable) connected to an </a:t>
            </a:r>
            <a:r>
              <a:rPr lang="en-US" b="1" dirty="0"/>
              <a:t>Operating System Kernel</a:t>
            </a:r>
            <a:r>
              <a:rPr lang="en-US" dirty="0"/>
              <a:t> via </a:t>
            </a:r>
            <a:r>
              <a:rPr lang="en-US" b="1" dirty="0"/>
              <a:t>Device Drivers</a:t>
            </a:r>
            <a:r>
              <a:rPr lang="en-US" dirty="0"/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Guest System: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Enclosed in a large box in the foreground, it contains its own </a:t>
            </a:r>
            <a:r>
              <a:rPr lang="en-US" b="1" dirty="0"/>
              <a:t>User Programs</a:t>
            </a:r>
            <a:r>
              <a:rPr lang="en-US" dirty="0"/>
              <a:t> and </a:t>
            </a:r>
            <a:r>
              <a:rPr lang="en-US" b="1" dirty="0"/>
              <a:t>Operating System Kernel</a:t>
            </a:r>
            <a:r>
              <a:rPr lang="en-US" dirty="0"/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Virtual Machine Monitor (VMM):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Positioned between the Guest Kernel and the Host system, it uses </a:t>
            </a:r>
            <a:r>
              <a:rPr lang="en-US" b="1" dirty="0"/>
              <a:t>Device Sim (simulations)</a:t>
            </a:r>
            <a:r>
              <a:rPr lang="en-US" dirty="0"/>
              <a:t> to mimic hardware functionality for the guest OS.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diagram illustrates how a guest operating system runs as a virtualized layer on top of a physical host's resources.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af8cd6477e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af8cd6477e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sng" dirty="0"/>
              <a:t>Implementation Details</a:t>
            </a:r>
            <a:r>
              <a:rPr lang="en-US" u="sng" dirty="0"/>
              <a:t>: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Software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The class will use </a:t>
            </a:r>
            <a:r>
              <a:rPr lang="en-US" b="1" dirty="0"/>
              <a:t>VirtualBox</a:t>
            </a:r>
            <a:r>
              <a:rPr lang="en-US" dirty="0"/>
              <a:t> software as the Virtual Machine Monitor.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OS Image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The VM image we will use is </a:t>
            </a:r>
            <a:r>
              <a:rPr lang="en-US" b="1" dirty="0" err="1"/>
              <a:t>LUbuntu</a:t>
            </a:r>
            <a:r>
              <a:rPr lang="en-US" dirty="0"/>
              <a:t>, a lightweight version of Ubuntu Linux, to ensure all students have an identical environment.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Tools / Software Stack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All necessary tools, such as VS Code, are pre-installed on the image.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sng" dirty="0"/>
              <a:t>Linux Command Line &amp; Tools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The Shell</a:t>
            </a:r>
            <a:r>
              <a:rPr lang="en-US" dirty="0"/>
              <a:t>: The primary method of interaction for this class is the command line.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Common Commands</a:t>
            </a:r>
            <a:r>
              <a:rPr lang="en-US" dirty="0"/>
              <a:t>: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ls</a:t>
            </a:r>
            <a:r>
              <a:rPr lang="en-US" dirty="0"/>
              <a:t> or </a:t>
            </a: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ls -l</a:t>
            </a:r>
            <a:r>
              <a:rPr lang="en-US" dirty="0"/>
              <a:t>: List files in the current directory.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cd [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dirname</a:t>
            </a: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r>
              <a:rPr lang="en-US" dirty="0"/>
              <a:t>: Change to a specific directory.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cat [filename]</a:t>
            </a:r>
            <a:r>
              <a:rPr lang="en-US" dirty="0"/>
              <a:t> or </a:t>
            </a: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more [filename]</a:t>
            </a:r>
            <a:r>
              <a:rPr lang="en-US" dirty="0"/>
              <a:t>: Display the contents of a file.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="1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e8af071d0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e8af071d0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Development Tools</a:t>
            </a:r>
            <a:r>
              <a:rPr lang="en-US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Text-Based Editors (SSH friendly)</a:t>
            </a:r>
            <a:r>
              <a:rPr lang="en-US" dirty="0"/>
              <a:t>: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vim</a:t>
            </a:r>
            <a:r>
              <a:rPr lang="en-US" dirty="0"/>
              <a:t>: Universal and powerful but has a learning curve.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emacs</a:t>
            </a:r>
            <a:r>
              <a:rPr lang="en-US" dirty="0"/>
              <a:t>: Extremely powerful; available in text or GUI.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nano</a:t>
            </a:r>
            <a:r>
              <a:rPr lang="en-US" dirty="0"/>
              <a:t>: Simple and slimmed down; basic support.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Visual Studio Code (VS Code)</a:t>
            </a:r>
            <a:r>
              <a:rPr lang="en-US" dirty="0"/>
              <a:t>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Free Microsoft editor; uses external tools (</a:t>
            </a:r>
            <a:r>
              <a:rPr lang="en-US" dirty="0" err="1"/>
              <a:t>gcc</a:t>
            </a:r>
            <a:r>
              <a:rPr lang="en-US" dirty="0"/>
              <a:t>, </a:t>
            </a:r>
            <a:r>
              <a:rPr lang="en-US" dirty="0" err="1"/>
              <a:t>gdb</a:t>
            </a:r>
            <a:r>
              <a:rPr lang="en-US" dirty="0"/>
              <a:t>, git) and acts nearly like a full IDE.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sz="11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gcc</a:t>
            </a:r>
            <a:r>
              <a:rPr lang="en-US" dirty="0"/>
              <a:t> (compiler),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sz="11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gdb</a:t>
            </a:r>
            <a:r>
              <a:rPr lang="en-US" dirty="0"/>
              <a:t> (debugger), and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sz="11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r>
              <a:rPr lang="en-US" dirty="0"/>
              <a:t> (version control).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e8af071d0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e8af071d0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To-Do List</a:t>
            </a:r>
            <a:r>
              <a:rPr lang="en-US" dirty="0"/>
              <a:t>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b="1" dirty="0"/>
              <a:t>GitHub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Set up GitHub and accept the classroom invitation.</a:t>
            </a:r>
            <a:br>
              <a:rPr lang="en-US" dirty="0"/>
            </a:br>
            <a:r>
              <a:rPr lang="en-US" dirty="0"/>
              <a:t>Students must set up an account and accept the GitHub Classroom invitation to link their account to the class.</a:t>
            </a:r>
            <a:br>
              <a:rPr lang="en-US" dirty="0"/>
            </a:b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VM Setup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Install and boot the VM image to verify it works.</a:t>
            </a:r>
            <a:br>
              <a:rPr lang="en-US" dirty="0"/>
            </a:br>
            <a:r>
              <a:rPr lang="en-US" dirty="0"/>
              <a:t>Download, install, and boot the VM to ensure functionality before Friday.</a:t>
            </a:r>
            <a:br>
              <a:rPr lang="en-US" dirty="0"/>
            </a:b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b="1" dirty="0"/>
              <a:t>Connectivity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If possible, set up SSH authentication between the VM and GitHub.</a:t>
            </a:r>
            <a:br>
              <a:rPr lang="en-US" dirty="0"/>
            </a:b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Demo</a:t>
            </a:r>
            <a:r>
              <a:rPr lang="en-US" dirty="0"/>
              <a:t>: Transition to in-class demos.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ubtitl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2044"/>
              </a:buClr>
              <a:buSzPts val="6000"/>
              <a:buFont typeface="Georgia"/>
              <a:buNone/>
              <a:defRPr sz="6000" b="0" i="0" u="none" strike="noStrike" cap="none">
                <a:solidFill>
                  <a:srgbClr val="0F2044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F2044"/>
              </a:buClr>
              <a:buSzPts val="1400"/>
              <a:buNone/>
              <a:defRPr sz="1800">
                <a:solidFill>
                  <a:srgbClr val="0F204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F2044"/>
              </a:buClr>
              <a:buSzPts val="1400"/>
              <a:buNone/>
              <a:defRPr sz="1800">
                <a:solidFill>
                  <a:srgbClr val="0F204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F2044"/>
              </a:buClr>
              <a:buSzPts val="1400"/>
              <a:buNone/>
              <a:defRPr sz="1800">
                <a:solidFill>
                  <a:srgbClr val="0F204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F2044"/>
              </a:buClr>
              <a:buSzPts val="1400"/>
              <a:buNone/>
              <a:defRPr sz="1800">
                <a:solidFill>
                  <a:srgbClr val="0F204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F2044"/>
              </a:buClr>
              <a:buSzPts val="1400"/>
              <a:buNone/>
              <a:defRPr sz="1800">
                <a:solidFill>
                  <a:srgbClr val="0F204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F2044"/>
              </a:buClr>
              <a:buSzPts val="1400"/>
              <a:buNone/>
              <a:defRPr sz="1800">
                <a:solidFill>
                  <a:srgbClr val="0F204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F2044"/>
              </a:buClr>
              <a:buSzPts val="1400"/>
              <a:buNone/>
              <a:defRPr sz="1800">
                <a:solidFill>
                  <a:srgbClr val="0F204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F2044"/>
              </a:buClr>
              <a:buSzPts val="1400"/>
              <a:buNone/>
              <a:defRPr sz="1800">
                <a:solidFill>
                  <a:srgbClr val="0F2044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F2044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F204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628650" y="105550"/>
            <a:ext cx="7886700" cy="7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2044"/>
              </a:buClr>
              <a:buSzPts val="3200"/>
              <a:buFont typeface="Georgia"/>
              <a:buNone/>
              <a:defRPr sz="3200" b="0" i="0" u="none" strike="noStrike" cap="none">
                <a:solidFill>
                  <a:srgbClr val="0F2044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628650" y="986737"/>
            <a:ext cx="7886700" cy="35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F2044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0F204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F2044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0F204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F2044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F204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115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F2044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rgbClr val="0F204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F2044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F204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F2044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rgbClr val="0F2044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F2044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rgbClr val="0F2044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F2044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rgbClr val="0F2044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F2044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rgbClr val="0F204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" name="Google Shape;21;p3"/>
          <p:cNvCxnSpPr/>
          <p:nvPr/>
        </p:nvCxnSpPr>
        <p:spPr>
          <a:xfrm>
            <a:off x="1221600" y="903131"/>
            <a:ext cx="6700800" cy="0"/>
          </a:xfrm>
          <a:prstGeom prst="straightConnector1">
            <a:avLst/>
          </a:prstGeom>
          <a:noFill/>
          <a:ln w="28575" cap="flat" cmpd="sng">
            <a:solidFill>
              <a:srgbClr val="0F204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22;p3"/>
          <p:cNvCxnSpPr/>
          <p:nvPr/>
        </p:nvCxnSpPr>
        <p:spPr>
          <a:xfrm>
            <a:off x="1221600" y="4632769"/>
            <a:ext cx="6700800" cy="0"/>
          </a:xfrm>
          <a:prstGeom prst="straightConnector1">
            <a:avLst/>
          </a:prstGeom>
          <a:noFill/>
          <a:ln w="9525" cap="flat" cmpd="sng">
            <a:solidFill>
              <a:srgbClr val="0F2044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Georgia"/>
              <a:buNone/>
              <a:defRPr sz="6000" b="0" i="0" u="none" strike="noStrike" cap="non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623888" y="3442098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ftr" idx="11"/>
          </p:nvPr>
        </p:nvSpPr>
        <p:spPr>
          <a:xfrm>
            <a:off x="445840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Georgia"/>
              <a:buNone/>
              <a:defRPr sz="4400" b="0" i="0" u="none" strike="noStrike" cap="non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ftr" idx="11"/>
          </p:nvPr>
        </p:nvSpPr>
        <p:spPr>
          <a:xfrm>
            <a:off x="445840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Georgia"/>
              <a:buNone/>
              <a:defRPr sz="4400" b="0" i="0" u="none" strike="noStrike" cap="non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1"/>
          </p:nvPr>
        </p:nvSpPr>
        <p:spPr>
          <a:xfrm>
            <a:off x="629842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2"/>
          </p:nvPr>
        </p:nvSpPr>
        <p:spPr>
          <a:xfrm>
            <a:off x="629842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ftr" idx="11"/>
          </p:nvPr>
        </p:nvSpPr>
        <p:spPr>
          <a:xfrm>
            <a:off x="445840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Georgia"/>
              <a:buNone/>
              <a:defRPr sz="4400" b="0" i="0" u="none" strike="noStrike" cap="non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ftr" idx="11"/>
          </p:nvPr>
        </p:nvSpPr>
        <p:spPr>
          <a:xfrm>
            <a:off x="445840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445840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Georgia"/>
              <a:buNone/>
              <a:defRPr sz="3200" b="0" i="0" u="none" strike="noStrike" cap="non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ftr" idx="11"/>
          </p:nvPr>
        </p:nvSpPr>
        <p:spPr>
          <a:xfrm>
            <a:off x="445840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Georgia"/>
              <a:buNone/>
              <a:defRPr sz="3200" b="0" i="0" u="none" strike="noStrike" cap="non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7" name="Google Shape;57;p10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445840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Georgia"/>
              <a:buNone/>
              <a:defRPr sz="4400" b="0" i="0" u="none" strike="noStrike" cap="non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3" name="Google Shape;63;p11"/>
          <p:cNvSpPr txBox="1">
            <a:spLocks noGrp="1"/>
          </p:cNvSpPr>
          <p:nvPr>
            <p:ph type="body" idx="1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" name="Google Shape;64;p11"/>
          <p:cNvSpPr txBox="1">
            <a:spLocks noGrp="1"/>
          </p:cNvSpPr>
          <p:nvPr>
            <p:ph type="ftr" idx="11"/>
          </p:nvPr>
        </p:nvSpPr>
        <p:spPr>
          <a:xfrm>
            <a:off x="445840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>
            <a:spLocks noGrp="1"/>
          </p:cNvSpPr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Georgia"/>
              <a:buNone/>
              <a:defRPr sz="4400" b="0" i="0" u="none" strike="noStrike" cap="non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8" name="Google Shape;68;p12"/>
          <p:cNvSpPr txBox="1">
            <a:spLocks noGrp="1"/>
          </p:cNvSpPr>
          <p:nvPr>
            <p:ph type="body" idx="1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ftr" idx="11"/>
          </p:nvPr>
        </p:nvSpPr>
        <p:spPr>
          <a:xfrm>
            <a:off x="445840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>
                <a:solidFill>
                  <a:srgbClr val="DA000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DA000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DA000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DA000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DA000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DA000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DA000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DA000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DA0002"/>
                </a:solidFill>
              </a:defRPr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rtl="0">
              <a:spcBef>
                <a:spcPts val="40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55600" rtl="0">
              <a:spcBef>
                <a:spcPts val="300"/>
              </a:spcBef>
              <a:spcAft>
                <a:spcPts val="0"/>
              </a:spcAft>
              <a:buSzPts val="2000"/>
              <a:buChar char="•"/>
              <a:defRPr/>
            </a:lvl2pPr>
            <a:lvl3pPr marL="1371600" lvl="2" indent="-342900" rtl="0">
              <a:spcBef>
                <a:spcPts val="2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30200" rtl="0">
              <a:spcBef>
                <a:spcPts val="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rtl="0">
              <a:spcBef>
                <a:spcPts val="200"/>
              </a:spcBef>
              <a:spcAft>
                <a:spcPts val="0"/>
              </a:spcAft>
              <a:buSzPts val="1600"/>
              <a:buChar char="•"/>
              <a:defRPr sz="1800"/>
            </a:lvl5pPr>
            <a:lvl6pPr marL="2743200" lvl="5" indent="-330200" rtl="0">
              <a:spcBef>
                <a:spcPts val="200"/>
              </a:spcBef>
              <a:spcAft>
                <a:spcPts val="0"/>
              </a:spcAft>
              <a:buSzPts val="1600"/>
              <a:buChar char="•"/>
              <a:defRPr sz="1800"/>
            </a:lvl6pPr>
            <a:lvl7pPr marL="3200400" lvl="6" indent="-330200" rtl="0">
              <a:spcBef>
                <a:spcPts val="200"/>
              </a:spcBef>
              <a:spcAft>
                <a:spcPts val="0"/>
              </a:spcAft>
              <a:buSzPts val="1600"/>
              <a:buChar char="•"/>
              <a:defRPr sz="1800"/>
            </a:lvl7pPr>
            <a:lvl8pPr marL="3657600" lvl="7" indent="-330200" rtl="0">
              <a:spcBef>
                <a:spcPts val="200"/>
              </a:spcBef>
              <a:spcAft>
                <a:spcPts val="0"/>
              </a:spcAft>
              <a:buSzPts val="1600"/>
              <a:buChar char="•"/>
              <a:defRPr sz="1800"/>
            </a:lvl8pPr>
            <a:lvl9pPr marL="4114800" lvl="8" indent="-330200" rtl="0">
              <a:spcBef>
                <a:spcPts val="200"/>
              </a:spcBef>
              <a:spcAft>
                <a:spcPts val="0"/>
              </a:spcAft>
              <a:buSzPts val="1600"/>
              <a:buChar char="•"/>
              <a:defRPr sz="1800"/>
            </a:lvl9pPr>
          </a:lstStyle>
          <a:p>
            <a:endParaRPr/>
          </a:p>
        </p:txBody>
      </p:sp>
      <p:cxnSp>
        <p:nvCxnSpPr>
          <p:cNvPr id="74" name="Google Shape;74;p13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w="50800" cap="flat" cmpd="sng">
            <a:solidFill>
              <a:srgbClr val="DA000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on left, text on right" type="twoColTx">
  <p:cSld name="TITLE_AND_TWO_COLUMNS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7" name="Google Shape;77;p14"/>
          <p:cNvSpPr txBox="1">
            <a:spLocks noGrp="1"/>
          </p:cNvSpPr>
          <p:nvPr>
            <p:ph type="ftr" idx="11"/>
          </p:nvPr>
        </p:nvSpPr>
        <p:spPr>
          <a:xfrm>
            <a:off x="2971800" y="4686300"/>
            <a:ext cx="3581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8" name="Google Shape;78;p14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2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-Subtitle">
  <p:cSld name="Title-Subtitle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Georgia"/>
              <a:buNone/>
              <a:defRPr sz="60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7" name="Google Shape;87;p16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" name="Google Shape;88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" name="Google Shape;89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Georgia"/>
              <a:buNone/>
              <a:defRPr sz="44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" name="Google Shape;94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Georgia"/>
              <a:buNone/>
              <a:defRPr sz="60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7" name="Google Shape;97;p18"/>
          <p:cNvSpPr txBox="1">
            <a:spLocks noGrp="1"/>
          </p:cNvSpPr>
          <p:nvPr>
            <p:ph type="body" idx="1"/>
          </p:nvPr>
        </p:nvSpPr>
        <p:spPr>
          <a:xfrm>
            <a:off x="623888" y="3442098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" name="Google Shape;98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9" name="Google Shape;99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Georgia"/>
              <a:buNone/>
              <a:defRPr sz="44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2" name="Google Shape;102;p19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3" name="Google Shape;103;p19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4" name="Google Shape;104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Georgia"/>
              <a:buNone/>
              <a:defRPr sz="44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8" name="Google Shape;108;p20"/>
          <p:cNvSpPr txBox="1">
            <a:spLocks noGrp="1"/>
          </p:cNvSpPr>
          <p:nvPr>
            <p:ph type="body" idx="1"/>
          </p:nvPr>
        </p:nvSpPr>
        <p:spPr>
          <a:xfrm>
            <a:off x="629842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9" name="Google Shape;109;p20"/>
          <p:cNvSpPr txBox="1">
            <a:spLocks noGrp="1"/>
          </p:cNvSpPr>
          <p:nvPr>
            <p:ph type="body" idx="2"/>
          </p:nvPr>
        </p:nvSpPr>
        <p:spPr>
          <a:xfrm>
            <a:off x="629842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" name="Google Shape;110;p20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1" name="Google Shape;111;p20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3" name="Google Shape;113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Georgia"/>
              <a:buNone/>
              <a:defRPr sz="44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6" name="Google Shape;116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7" name="Google Shape;117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0" name="Google Shape;120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Georgia"/>
              <a:buNone/>
              <a:defRPr sz="32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3" name="Google Shape;123;p23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4" name="Google Shape;124;p23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5" name="Google Shape;125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6" name="Google Shape;126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Georgia"/>
              <a:buNone/>
              <a:defRPr sz="32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9" name="Google Shape;129;p24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0" name="Google Shape;130;p24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1" name="Google Shape;131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2" name="Google Shape;132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Georgia"/>
              <a:buNone/>
              <a:defRPr sz="44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5" name="Google Shape;135;p25"/>
          <p:cNvSpPr txBox="1">
            <a:spLocks noGrp="1"/>
          </p:cNvSpPr>
          <p:nvPr>
            <p:ph type="body" idx="1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6" name="Google Shape;136;p2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7" name="Google Shape;137;p2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>
            <a:spLocks noGrp="1"/>
          </p:cNvSpPr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Georgia"/>
              <a:buNone/>
              <a:defRPr sz="44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0" name="Google Shape;140;p26"/>
          <p:cNvSpPr txBox="1">
            <a:spLocks noGrp="1"/>
          </p:cNvSpPr>
          <p:nvPr>
            <p:ph type="body" idx="1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1" name="Google Shape;141;p2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2" name="Google Shape;142;p2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Georgia"/>
              <a:buNone/>
              <a:defRPr sz="4000" b="0" i="0" u="none" strike="noStrike" cap="non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35338" y="4691572"/>
            <a:ext cx="1042279" cy="33905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 txBox="1"/>
          <p:nvPr/>
        </p:nvSpPr>
        <p:spPr>
          <a:xfrm>
            <a:off x="1562225" y="4733925"/>
            <a:ext cx="1642500" cy="3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F2044"/>
                </a:solidFill>
              </a:rPr>
              <a:t>CSC 362</a:t>
            </a:r>
            <a:endParaRPr>
              <a:solidFill>
                <a:srgbClr val="0F2044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solidFill>
                  <a:srgbClr val="0F2044"/>
                </a:solidFill>
              </a:rPr>
              <a:t>System Programming</a:t>
            </a:r>
            <a:endParaRPr sz="1100" i="1">
              <a:solidFill>
                <a:srgbClr val="0F2044"/>
              </a:solidFill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3204725" y="4829731"/>
            <a:ext cx="4305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F2044"/>
                </a:solidFill>
              </a:rPr>
              <a:t>Class Introduction</a:t>
            </a:r>
            <a:endParaRPr>
              <a:solidFill>
                <a:srgbClr val="0F2044"/>
              </a:solidFill>
            </a:endParaRPr>
          </a:p>
        </p:txBody>
      </p:sp>
      <p:cxnSp>
        <p:nvCxnSpPr>
          <p:cNvPr id="12" name="Google Shape;12;p1"/>
          <p:cNvCxnSpPr/>
          <p:nvPr/>
        </p:nvCxnSpPr>
        <p:spPr>
          <a:xfrm>
            <a:off x="3137550" y="4733809"/>
            <a:ext cx="0" cy="302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Georgia"/>
              <a:buNone/>
              <a:defRPr sz="44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1" name="Google Shape;81;p1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" name="Google Shape;82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" name="Google Shape;83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4" name="Google Shape;84;p15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10358" y="4697344"/>
            <a:ext cx="1006822" cy="33905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db.com/title/tt0133093/" TargetMode="Externa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Class Introduction</a:t>
            </a:r>
            <a:endParaRPr sz="50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0"/>
          </a:p>
        </p:txBody>
      </p:sp>
      <p:sp>
        <p:nvSpPr>
          <p:cNvPr id="148" name="Google Shape;148;p27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CSC 362</a:t>
            </a:r>
            <a:endParaRPr/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System Programming</a:t>
            </a:r>
            <a:endParaRPr/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>
            <a:spLocks noGrp="1"/>
          </p:cNvSpPr>
          <p:nvPr>
            <p:ph type="title"/>
          </p:nvPr>
        </p:nvSpPr>
        <p:spPr>
          <a:xfrm>
            <a:off x="628650" y="105550"/>
            <a:ext cx="7886700" cy="748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About This Class</a:t>
            </a:r>
            <a:endParaRPr/>
          </a:p>
        </p:txBody>
      </p:sp>
      <p:sp>
        <p:nvSpPr>
          <p:cNvPr id="154" name="Google Shape;154;p28"/>
          <p:cNvSpPr txBox="1">
            <a:spLocks noGrp="1"/>
          </p:cNvSpPr>
          <p:nvPr>
            <p:ph type="body" idx="1"/>
          </p:nvPr>
        </p:nvSpPr>
        <p:spPr>
          <a:xfrm>
            <a:off x="628650" y="986737"/>
            <a:ext cx="7886700" cy="3592800"/>
          </a:xfrm>
          <a:prstGeom prst="rect">
            <a:avLst/>
          </a:prstGeom>
        </p:spPr>
        <p:txBody>
          <a:bodyPr spcFirstLastPara="1" wrap="square" lIns="114300" tIns="91425" rIns="91425" bIns="91425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000" dirty="0"/>
              <a:t>This class is:</a:t>
            </a:r>
            <a:endParaRPr sz="2000" dirty="0"/>
          </a:p>
          <a:p>
            <a:pPr marL="342900" lvl="0" indent="-228600" algn="l" rtl="0"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" sz="1800" dirty="0"/>
              <a:t>Designed to teach you how programs interact with the system</a:t>
            </a:r>
            <a:endParaRPr sz="1800" dirty="0"/>
          </a:p>
          <a:p>
            <a:pPr marL="342900" lvl="0" indent="-228600" algn="l" rtl="0"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" sz="1800" dirty="0"/>
              <a:t>Very programming-oriented - the theory comes in CSC 462!</a:t>
            </a:r>
            <a:endParaRPr sz="1800" dirty="0"/>
          </a:p>
          <a:p>
            <a:pPr marL="342900" lvl="0" indent="-228600" algn="l" rtl="0"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" sz="1800" dirty="0"/>
              <a:t>Also gives significant experience working with Linux</a:t>
            </a:r>
            <a:endParaRPr dirty="0"/>
          </a:p>
          <a:p>
            <a:pPr marL="742950" lvl="1" indent="-215900" algn="l" rtl="0">
              <a:spcBef>
                <a:spcPts val="200"/>
              </a:spcBef>
              <a:spcAft>
                <a:spcPts val="0"/>
              </a:spcAft>
              <a:buSzPts val="1600"/>
              <a:buChar char="•"/>
            </a:pPr>
            <a:r>
              <a:rPr lang="en" dirty="0"/>
              <a:t>Most concepts are portable (not specific to Linux)</a:t>
            </a:r>
            <a:endParaRPr dirty="0"/>
          </a:p>
          <a:p>
            <a:pPr marL="342900" lvl="0" indent="-228600" algn="l" rtl="0"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" sz="1800" dirty="0"/>
              <a:t>A required class for CS majors that declared Fall 2020 or later</a:t>
            </a:r>
            <a:endParaRPr sz="1800" dirty="0"/>
          </a:p>
          <a:p>
            <a:pPr marL="742950" lvl="1" indent="-215900" algn="l" rtl="0">
              <a:spcBef>
                <a:spcPts val="200"/>
              </a:spcBef>
              <a:spcAft>
                <a:spcPts val="0"/>
              </a:spcAft>
              <a:buSzPts val="1600"/>
              <a:buChar char="•"/>
            </a:pPr>
            <a:r>
              <a:rPr lang="en" sz="1600" dirty="0"/>
              <a:t>An upper-level elective for everyone else</a:t>
            </a:r>
            <a:endParaRPr sz="1600" dirty="0"/>
          </a:p>
          <a:p>
            <a:pPr marL="342900" lvl="1" indent="-228600">
              <a:spcBef>
                <a:spcPts val="500"/>
              </a:spcBef>
              <a:buSzPts val="1800"/>
            </a:pPr>
            <a:r>
              <a:rPr lang="en-US" sz="1800" dirty="0"/>
              <a:t>Is a prerequisite for CSC 462 and CSC 481</a:t>
            </a:r>
          </a:p>
          <a:p>
            <a:pPr marL="342900" lvl="0" indent="-228600" algn="l" rtl="0"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" dirty="0"/>
              <a:t>Very hands-on, with in-class activities</a:t>
            </a:r>
            <a:endParaRPr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9"/>
          <p:cNvSpPr txBox="1">
            <a:spLocks noGrp="1"/>
          </p:cNvSpPr>
          <p:nvPr>
            <p:ph type="title"/>
          </p:nvPr>
        </p:nvSpPr>
        <p:spPr>
          <a:xfrm>
            <a:off x="628650" y="105550"/>
            <a:ext cx="7886700" cy="748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Structure</a:t>
            </a:r>
            <a:endParaRPr/>
          </a:p>
        </p:txBody>
      </p:sp>
      <p:sp>
        <p:nvSpPr>
          <p:cNvPr id="160" name="Google Shape;160;p29"/>
          <p:cNvSpPr txBox="1">
            <a:spLocks noGrp="1"/>
          </p:cNvSpPr>
          <p:nvPr>
            <p:ph type="body" idx="1"/>
          </p:nvPr>
        </p:nvSpPr>
        <p:spPr>
          <a:xfrm>
            <a:off x="628650" y="986725"/>
            <a:ext cx="8014500" cy="3592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buNone/>
            </a:pPr>
            <a:r>
              <a:rPr lang="en-US" sz="2000" dirty="0"/>
              <a:t>Class format</a:t>
            </a:r>
            <a:r>
              <a:rPr lang="en" sz="2000" dirty="0"/>
              <a:t>: </a:t>
            </a:r>
          </a:p>
          <a:p>
            <a:pPr marL="396875" indent="-223838"/>
            <a:r>
              <a:rPr lang="en" dirty="0"/>
              <a:t>Traditional class (lecture, examples, discussion, etc.)</a:t>
            </a:r>
          </a:p>
          <a:p>
            <a:pPr marL="396875" indent="-223838">
              <a:spcAft>
                <a:spcPts val="1200"/>
              </a:spcAft>
            </a:pPr>
            <a:r>
              <a:rPr lang="en" dirty="0"/>
              <a:t>In-class activities followed by wrap-up with discussion of solutions</a:t>
            </a: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900" dirty="0"/>
              <a:t>Moderate on power-point slides (mostly for illustration), </a:t>
            </a:r>
            <a:br>
              <a:rPr lang="en" sz="1900" dirty="0"/>
            </a:br>
            <a:r>
              <a:rPr lang="en" sz="1900" dirty="0"/>
              <a:t>heavy on examples</a:t>
            </a:r>
            <a:endParaRPr sz="1900" dirty="0"/>
          </a:p>
          <a:p>
            <a:pPr marL="400050" lvl="0" indent="-228600" algn="l" rtl="0">
              <a:spcBef>
                <a:spcPts val="300"/>
              </a:spcBef>
              <a:spcAft>
                <a:spcPts val="0"/>
              </a:spcAft>
              <a:buSzPts val="1800"/>
              <a:buChar char="•"/>
            </a:pPr>
            <a:r>
              <a:rPr lang="en" dirty="0"/>
              <a:t>Example code will be in GitHub repositories available to students</a:t>
            </a:r>
            <a:endParaRPr dirty="0"/>
          </a:p>
          <a:p>
            <a:pPr marL="400050" lvl="0" indent="-228600" algn="l" rtl="0">
              <a:spcBef>
                <a:spcPts val="300"/>
              </a:spcBef>
              <a:spcAft>
                <a:spcPts val="0"/>
              </a:spcAft>
              <a:buSzPts val="1800"/>
              <a:buChar char="•"/>
            </a:pPr>
            <a:r>
              <a:rPr lang="en" dirty="0"/>
              <a:t>Can download ahead of time and work along with instructor (optional)</a:t>
            </a:r>
            <a:endParaRPr dirty="0"/>
          </a:p>
          <a:p>
            <a:pPr marL="400050" lvl="0" indent="-228600" algn="l" rtl="0">
              <a:spcBef>
                <a:spcPts val="300"/>
              </a:spcBef>
              <a:spcAft>
                <a:spcPts val="0"/>
              </a:spcAft>
              <a:buSzPts val="1800"/>
              <a:buChar char="•"/>
            </a:pPr>
            <a:r>
              <a:rPr lang="en" dirty="0"/>
              <a:t>Final versions always pushed back so available for studying and review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0"/>
          <p:cNvSpPr txBox="1">
            <a:spLocks noGrp="1"/>
          </p:cNvSpPr>
          <p:nvPr>
            <p:ph type="title"/>
          </p:nvPr>
        </p:nvSpPr>
        <p:spPr>
          <a:xfrm>
            <a:off x="628650" y="105550"/>
            <a:ext cx="7886700" cy="748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Status Check</a:t>
            </a:r>
            <a:endParaRPr dirty="0"/>
          </a:p>
        </p:txBody>
      </p:sp>
      <p:sp>
        <p:nvSpPr>
          <p:cNvPr id="166" name="Google Shape;166;p30"/>
          <p:cNvSpPr txBox="1">
            <a:spLocks noGrp="1"/>
          </p:cNvSpPr>
          <p:nvPr>
            <p:ph type="body" idx="1"/>
          </p:nvPr>
        </p:nvSpPr>
        <p:spPr>
          <a:xfrm>
            <a:off x="628650" y="986737"/>
            <a:ext cx="7886700" cy="3592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What you should have done before now:</a:t>
            </a:r>
            <a:endParaRPr sz="2000" dirty="0"/>
          </a:p>
          <a:p>
            <a:pPr marL="400050" lvl="0" indent="-228600" algn="l" rtl="0">
              <a:spcBef>
                <a:spcPts val="200"/>
              </a:spcBef>
              <a:spcAft>
                <a:spcPts val="0"/>
              </a:spcAft>
              <a:buSzPts val="1800"/>
              <a:buChar char="•"/>
            </a:pPr>
            <a:r>
              <a:rPr lang="en" dirty="0"/>
              <a:t>Nothing! This is the first class!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000" dirty="0"/>
              <a:t>What we’ll talk about today and on Wednesday:</a:t>
            </a:r>
            <a:endParaRPr sz="2000" dirty="0"/>
          </a:p>
          <a:p>
            <a:pPr marL="400050" lvl="0" indent="-228600" algn="l" rtl="0">
              <a:spcBef>
                <a:spcPts val="200"/>
              </a:spcBef>
              <a:spcAft>
                <a:spcPts val="0"/>
              </a:spcAft>
              <a:buSzPts val="1800"/>
              <a:buChar char="•"/>
            </a:pPr>
            <a:r>
              <a:rPr lang="en" dirty="0"/>
              <a:t>Information about the class - Syllabus review</a:t>
            </a:r>
            <a:endParaRPr dirty="0"/>
          </a:p>
          <a:p>
            <a:pPr marL="400050" lvl="0" indent="-228600" algn="l" rtl="0">
              <a:spcBef>
                <a:spcPts val="200"/>
              </a:spcBef>
              <a:spcAft>
                <a:spcPts val="0"/>
              </a:spcAft>
              <a:buSzPts val="1800"/>
              <a:buChar char="•"/>
            </a:pPr>
            <a:r>
              <a:rPr lang="en" dirty="0"/>
              <a:t>Role of the operating system and use of virtual machines (VMs)</a:t>
            </a:r>
            <a:endParaRPr dirty="0"/>
          </a:p>
          <a:p>
            <a:pPr marL="400050" lvl="0" indent="-228600" algn="l" rtl="0">
              <a:spcBef>
                <a:spcPts val="200"/>
              </a:spcBef>
              <a:spcAft>
                <a:spcPts val="0"/>
              </a:spcAft>
              <a:buSzPts val="1800"/>
              <a:buChar char="•"/>
            </a:pPr>
            <a:r>
              <a:rPr lang="en" dirty="0"/>
              <a:t>Demo of basic infrastructure for this class: Linux VM and GitHub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000" dirty="0"/>
              <a:t>What you need to be working on:</a:t>
            </a:r>
            <a:endParaRPr sz="2000" dirty="0"/>
          </a:p>
          <a:p>
            <a:pPr marL="400050" lvl="0" indent="-228600" algn="l" rtl="0">
              <a:spcBef>
                <a:spcPts val="200"/>
              </a:spcBef>
              <a:spcAft>
                <a:spcPts val="0"/>
              </a:spcAft>
              <a:buSzPts val="1800"/>
              <a:buChar char="•"/>
            </a:pPr>
            <a:r>
              <a:rPr lang="en" dirty="0"/>
              <a:t>Create/set up your GitHub account</a:t>
            </a:r>
            <a:endParaRPr dirty="0"/>
          </a:p>
          <a:p>
            <a:pPr marL="400050" lvl="0" indent="-228600" algn="l" rtl="0">
              <a:spcBef>
                <a:spcPts val="200"/>
              </a:spcBef>
              <a:spcAft>
                <a:spcPts val="0"/>
              </a:spcAft>
              <a:buSzPts val="1800"/>
              <a:buChar char="•"/>
            </a:pPr>
            <a:r>
              <a:rPr lang="en" dirty="0"/>
              <a:t>Download and install the class virtual machine</a:t>
            </a:r>
            <a:endParaRPr dirty="0"/>
          </a:p>
          <a:p>
            <a:pPr marL="400050" lvl="0" indent="-228600" algn="l" rtl="0">
              <a:spcBef>
                <a:spcPts val="200"/>
              </a:spcBef>
              <a:spcAft>
                <a:spcPts val="0"/>
              </a:spcAft>
              <a:buSzPts val="1800"/>
              <a:buChar char="•"/>
            </a:pPr>
            <a:r>
              <a:rPr lang="en" dirty="0"/>
              <a:t>If possible: Set up SSH authentication for VM account to GitHub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/>
          <p:cNvSpPr txBox="1">
            <a:spLocks noGrp="1"/>
          </p:cNvSpPr>
          <p:nvPr>
            <p:ph type="title"/>
          </p:nvPr>
        </p:nvSpPr>
        <p:spPr>
          <a:xfrm>
            <a:off x="628650" y="105550"/>
            <a:ext cx="7886700" cy="748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Syllabus Review</a:t>
            </a:r>
            <a:endParaRPr/>
          </a:p>
        </p:txBody>
      </p:sp>
      <p:sp>
        <p:nvSpPr>
          <p:cNvPr id="172" name="Google Shape;172;p31"/>
          <p:cNvSpPr txBox="1">
            <a:spLocks noGrp="1"/>
          </p:cNvSpPr>
          <p:nvPr>
            <p:ph type="body" idx="1"/>
          </p:nvPr>
        </p:nvSpPr>
        <p:spPr>
          <a:xfrm>
            <a:off x="628650" y="986737"/>
            <a:ext cx="7886700" cy="3592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000" dirty="0"/>
              <a:t>Will go through the syllabus - points highlighted:</a:t>
            </a:r>
            <a:endParaRPr sz="2000" dirty="0"/>
          </a:p>
          <a:p>
            <a:pPr marL="457200" lvl="0" indent="-342900" algn="l" rtl="0">
              <a:spcBef>
                <a:spcPts val="300"/>
              </a:spcBef>
              <a:spcAft>
                <a:spcPts val="0"/>
              </a:spcAft>
              <a:buSzPts val="1800"/>
              <a:buChar char="•"/>
            </a:pPr>
            <a:r>
              <a:rPr lang="en" dirty="0"/>
              <a:t>Class meetings, office hours, and email</a:t>
            </a:r>
            <a:endParaRPr dirty="0"/>
          </a:p>
          <a:p>
            <a:pPr marL="457200" lvl="0" indent="-342900" algn="l" rtl="0">
              <a:spcBef>
                <a:spcPts val="300"/>
              </a:spcBef>
              <a:spcAft>
                <a:spcPts val="0"/>
              </a:spcAft>
              <a:buSzPts val="1800"/>
              <a:buChar char="•"/>
            </a:pPr>
            <a:r>
              <a:rPr lang="en" dirty="0"/>
              <a:t>Prerequisites (basics of CPU operation and programming)</a:t>
            </a:r>
            <a:endParaRPr dirty="0"/>
          </a:p>
          <a:p>
            <a:pPr marL="457200" lvl="0" indent="-342900" algn="l" rtl="0">
              <a:spcBef>
                <a:spcPts val="300"/>
              </a:spcBef>
              <a:spcAft>
                <a:spcPts val="0"/>
              </a:spcAft>
              <a:buSzPts val="1800"/>
              <a:buChar char="•"/>
            </a:pPr>
            <a:r>
              <a:rPr lang="en" dirty="0"/>
              <a:t>Look at typical week structure in Canvas</a:t>
            </a:r>
            <a:endParaRPr dirty="0"/>
          </a:p>
          <a:p>
            <a:pPr marL="457200" lvl="0" indent="-342900" algn="l" rtl="0">
              <a:spcBef>
                <a:spcPts val="300"/>
              </a:spcBef>
              <a:spcAft>
                <a:spcPts val="0"/>
              </a:spcAft>
              <a:buSzPts val="1800"/>
              <a:buChar char="•"/>
            </a:pPr>
            <a:r>
              <a:rPr lang="en" dirty="0"/>
              <a:t>Book - student-written wiki, with the good and bad</a:t>
            </a:r>
            <a:endParaRPr dirty="0"/>
          </a:p>
          <a:p>
            <a:pPr marL="457200" lvl="0" indent="-342900" algn="l" rtl="0">
              <a:spcBef>
                <a:spcPts val="300"/>
              </a:spcBef>
              <a:spcAft>
                <a:spcPts val="0"/>
              </a:spcAft>
              <a:buSzPts val="1800"/>
              <a:buChar char="•"/>
            </a:pPr>
            <a:r>
              <a:rPr lang="en" dirty="0"/>
              <a:t>Types of assignments</a:t>
            </a:r>
            <a:endParaRPr dirty="0"/>
          </a:p>
          <a:p>
            <a:pPr marL="457200" lvl="0" indent="-342900" algn="l" rtl="0">
              <a:spcBef>
                <a:spcPts val="300"/>
              </a:spcBef>
              <a:spcAft>
                <a:spcPts val="0"/>
              </a:spcAft>
              <a:buSzPts val="1800"/>
              <a:buChar char="•"/>
            </a:pPr>
            <a:r>
              <a:rPr lang="en" dirty="0"/>
              <a:t>Grade percentages and weights</a:t>
            </a:r>
            <a:endParaRPr dirty="0"/>
          </a:p>
          <a:p>
            <a:pPr marL="457200" lvl="0" indent="-342900" algn="l" rtl="0">
              <a:spcBef>
                <a:spcPts val="300"/>
              </a:spcBef>
              <a:spcAft>
                <a:spcPts val="0"/>
              </a:spcAft>
              <a:buSzPts val="1800"/>
              <a:buChar char="•"/>
            </a:pPr>
            <a:r>
              <a:rPr lang="en" dirty="0"/>
              <a:t>Late policy</a:t>
            </a:r>
            <a:endParaRPr dirty="0"/>
          </a:p>
          <a:p>
            <a:pPr marL="457200" lvl="0" indent="-342900" algn="l" rtl="0">
              <a:spcBef>
                <a:spcPts val="300"/>
              </a:spcBef>
              <a:spcAft>
                <a:spcPts val="0"/>
              </a:spcAft>
              <a:buSzPts val="1800"/>
              <a:buChar char="•"/>
            </a:pPr>
            <a:r>
              <a:rPr lang="en" dirty="0"/>
              <a:t>Professionalism/behavior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2"/>
          <p:cNvSpPr txBox="1">
            <a:spLocks noGrp="1"/>
          </p:cNvSpPr>
          <p:nvPr>
            <p:ph type="title"/>
          </p:nvPr>
        </p:nvSpPr>
        <p:spPr>
          <a:xfrm>
            <a:off x="628650" y="105550"/>
            <a:ext cx="7886700" cy="748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 of the Operating System</a:t>
            </a:r>
            <a:endParaRPr/>
          </a:p>
        </p:txBody>
      </p:sp>
      <p:sp>
        <p:nvSpPr>
          <p:cNvPr id="179" name="Google Shape;179;p32"/>
          <p:cNvSpPr txBox="1">
            <a:spLocks noGrp="1"/>
          </p:cNvSpPr>
          <p:nvPr>
            <p:ph type="body" idx="1"/>
          </p:nvPr>
        </p:nvSpPr>
        <p:spPr>
          <a:xfrm>
            <a:off x="595475" y="986725"/>
            <a:ext cx="2413800" cy="3592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 dirty="0"/>
              <a:t>Layers of abstraction</a:t>
            </a:r>
            <a:endParaRPr sz="1600"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600"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 dirty="0"/>
              <a:t>This class: Primarily about how user programs interface with kernel, and what services are available.</a:t>
            </a:r>
            <a:endParaRPr sz="1600"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600"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 dirty="0"/>
              <a:t>CSC 462: Some about implementation inside kernel and higher-level principles and theory.</a:t>
            </a:r>
            <a:endParaRPr sz="1600" dirty="0"/>
          </a:p>
        </p:txBody>
      </p:sp>
      <p:grpSp>
        <p:nvGrpSpPr>
          <p:cNvPr id="2" name="Group 1" descr="Operating System Kernel&#10;A diagram illustrating the hierarchy of a computer system. At the top, hardware icons (keyboard, hard drive, and network cable) connect to physical chips. These chips interface with &quot;Device Driver&quot; blocks, which sit above the &quot;Operating System Kernel.&quot; At the bottom, &quot;User Program&quot; blocks connect to the kernel, showing the flow of communication between software and hardware through the OS.">
            <a:extLst>
              <a:ext uri="{FF2B5EF4-FFF2-40B4-BE49-F238E27FC236}">
                <a16:creationId xmlns:a16="http://schemas.microsoft.com/office/drawing/2014/main" id="{ADE4687D-AF8B-74EF-BEC6-FCFC68F0FF9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GrpSpPr/>
          <p:nvPr/>
        </p:nvGrpSpPr>
        <p:grpSpPr>
          <a:xfrm>
            <a:off x="5803100" y="1088325"/>
            <a:ext cx="2279700" cy="2247125"/>
            <a:chOff x="5803100" y="1088325"/>
            <a:chExt cx="2279700" cy="2247125"/>
          </a:xfrm>
        </p:grpSpPr>
        <p:sp>
          <p:nvSpPr>
            <p:cNvPr id="177" name="Google Shape;177;p32"/>
            <p:cNvSpPr txBox="1"/>
            <p:nvPr/>
          </p:nvSpPr>
          <p:spPr>
            <a:xfrm>
              <a:off x="5803100" y="2371000"/>
              <a:ext cx="2279700" cy="7047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Operating System Kernel</a:t>
              </a:r>
              <a:endParaRPr/>
            </a:p>
          </p:txBody>
        </p:sp>
        <p:sp>
          <p:nvSpPr>
            <p:cNvPr id="180" name="Google Shape;180;p32"/>
            <p:cNvSpPr txBox="1"/>
            <p:nvPr/>
          </p:nvSpPr>
          <p:spPr>
            <a:xfrm>
              <a:off x="5950575" y="2135875"/>
              <a:ext cx="630000" cy="344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18275" rIns="91425" bIns="1827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dirty="0"/>
                <a:t>Device</a:t>
              </a:r>
              <a:endParaRPr sz="1000" dirty="0"/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dirty="0"/>
                <a:t>Driver</a:t>
              </a:r>
              <a:endParaRPr sz="1000" dirty="0"/>
            </a:p>
          </p:txBody>
        </p:sp>
        <p:pic>
          <p:nvPicPr>
            <p:cNvPr id="181" name="Google Shape;181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>
              <a:off x="6052213" y="1687200"/>
              <a:ext cx="426725" cy="470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2" name="Google Shape;182;p32"/>
            <p:cNvSpPr txBox="1"/>
            <p:nvPr/>
          </p:nvSpPr>
          <p:spPr>
            <a:xfrm>
              <a:off x="6616950" y="2135875"/>
              <a:ext cx="630000" cy="344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18275" rIns="91425" bIns="1827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dirty="0"/>
                <a:t>Device</a:t>
              </a:r>
              <a:endParaRPr sz="1000" dirty="0"/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dirty="0"/>
                <a:t>Driver</a:t>
              </a:r>
              <a:endParaRPr sz="1000" dirty="0"/>
            </a:p>
          </p:txBody>
        </p:sp>
        <p:pic>
          <p:nvPicPr>
            <p:cNvPr id="183" name="Google Shape;183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>
              <a:off x="6718588" y="1687200"/>
              <a:ext cx="426725" cy="470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4" name="Google Shape;184;p32"/>
            <p:cNvSpPr txBox="1"/>
            <p:nvPr/>
          </p:nvSpPr>
          <p:spPr>
            <a:xfrm>
              <a:off x="7283325" y="2135875"/>
              <a:ext cx="630000" cy="344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18275" rIns="91425" bIns="1827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Device</a:t>
              </a:r>
              <a:endParaRPr sz="1000"/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Driver</a:t>
              </a:r>
              <a:endParaRPr sz="1000"/>
            </a:p>
          </p:txBody>
        </p:sp>
        <p:pic>
          <p:nvPicPr>
            <p:cNvPr id="185" name="Google Shape;185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>
              <a:off x="7384963" y="1687200"/>
              <a:ext cx="426725" cy="470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6" name="Google Shape;186;p32"/>
            <p:cNvSpPr txBox="1"/>
            <p:nvPr/>
          </p:nvSpPr>
          <p:spPr>
            <a:xfrm>
              <a:off x="6084825" y="2990750"/>
              <a:ext cx="721200" cy="344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18275" rIns="91425" bIns="1827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User</a:t>
              </a:r>
              <a:endParaRPr sz="1000"/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Program</a:t>
              </a:r>
              <a:endParaRPr sz="1000"/>
            </a:p>
          </p:txBody>
        </p:sp>
        <p:sp>
          <p:nvSpPr>
            <p:cNvPr id="187" name="Google Shape;187;p32"/>
            <p:cNvSpPr txBox="1"/>
            <p:nvPr/>
          </p:nvSpPr>
          <p:spPr>
            <a:xfrm>
              <a:off x="7102675" y="2990750"/>
              <a:ext cx="721200" cy="344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18275" rIns="91425" bIns="1827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User</a:t>
              </a:r>
              <a:endParaRPr sz="1000"/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Program</a:t>
              </a:r>
              <a:endParaRPr sz="1000"/>
            </a:p>
          </p:txBody>
        </p:sp>
        <p:pic>
          <p:nvPicPr>
            <p:cNvPr id="188" name="Google Shape;18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684950" y="1138975"/>
              <a:ext cx="516010" cy="620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" name="Google Shape;189;p3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514775" y="1088325"/>
              <a:ext cx="398554" cy="620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0" name="Google Shape;190;p3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030250" y="1310600"/>
              <a:ext cx="398550" cy="3985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" name="Group 2" descr="Device drivers abstract HW to generic type-specific interface.">
            <a:extLst>
              <a:ext uri="{FF2B5EF4-FFF2-40B4-BE49-F238E27FC236}">
                <a16:creationId xmlns:a16="http://schemas.microsoft.com/office/drawing/2014/main" id="{48E767E4-9FE1-2589-07A9-578A85C04974}"/>
              </a:ext>
            </a:extLst>
          </p:cNvPr>
          <p:cNvGrpSpPr/>
          <p:nvPr/>
        </p:nvGrpSpPr>
        <p:grpSpPr>
          <a:xfrm>
            <a:off x="3125400" y="1475625"/>
            <a:ext cx="2777100" cy="621750"/>
            <a:chOff x="3125400" y="1475625"/>
            <a:chExt cx="2777100" cy="621750"/>
          </a:xfrm>
        </p:grpSpPr>
        <p:sp>
          <p:nvSpPr>
            <p:cNvPr id="192" name="Google Shape;192;p32" descr="Device drivers abstract hardware to generic type-specific interface."/>
            <p:cNvSpPr txBox="1"/>
            <p:nvPr/>
          </p:nvSpPr>
          <p:spPr>
            <a:xfrm>
              <a:off x="3125400" y="1475625"/>
              <a:ext cx="2250600" cy="554100"/>
            </a:xfrm>
            <a:prstGeom prst="rect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rgbClr val="FF0000"/>
                  </a:solidFill>
                </a:rPr>
                <a:t>Device drivers abstract HW to generic type-specific interface.</a:t>
              </a:r>
              <a:endParaRPr sz="1200" dirty="0">
                <a:solidFill>
                  <a:srgbClr val="FF0000"/>
                </a:solidFill>
              </a:endParaRPr>
            </a:p>
          </p:txBody>
        </p:sp>
        <p:cxnSp>
          <p:nvCxnSpPr>
            <p:cNvPr id="196" name="Google Shape;196;p32"/>
            <p:cNvCxnSpPr/>
            <p:nvPr/>
          </p:nvCxnSpPr>
          <p:spPr>
            <a:xfrm>
              <a:off x="5376000" y="1764075"/>
              <a:ext cx="526500" cy="3333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4" name="Group 3" descr="Kernel interfaces between user programs and abstracted hardware interfaces">
            <a:extLst>
              <a:ext uri="{FF2B5EF4-FFF2-40B4-BE49-F238E27FC236}">
                <a16:creationId xmlns:a16="http://schemas.microsoft.com/office/drawing/2014/main" id="{D36C02F9-6462-E79D-2C6F-FC27DB099DCE}"/>
              </a:ext>
            </a:extLst>
          </p:cNvPr>
          <p:cNvGrpSpPr/>
          <p:nvPr/>
        </p:nvGrpSpPr>
        <p:grpSpPr>
          <a:xfrm>
            <a:off x="3125400" y="2413675"/>
            <a:ext cx="2677700" cy="738900"/>
            <a:chOff x="3125400" y="2413675"/>
            <a:chExt cx="2677700" cy="738900"/>
          </a:xfrm>
        </p:grpSpPr>
        <p:sp>
          <p:nvSpPr>
            <p:cNvPr id="191" name="Google Shape;191;p32" descr="Kernel interfaces between user programs and abstracted HW interfaces"/>
            <p:cNvSpPr txBox="1"/>
            <p:nvPr/>
          </p:nvSpPr>
          <p:spPr>
            <a:xfrm>
              <a:off x="3125400" y="2413675"/>
              <a:ext cx="2250600" cy="738900"/>
            </a:xfrm>
            <a:prstGeom prst="rect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rgbClr val="FF0000"/>
                  </a:solidFill>
                </a:rPr>
                <a:t>Kernel interfaces between user programs and abstracted HW interfaces</a:t>
              </a:r>
              <a:endParaRPr sz="1200" dirty="0">
                <a:solidFill>
                  <a:srgbClr val="FF0000"/>
                </a:solidFill>
              </a:endParaRPr>
            </a:p>
          </p:txBody>
        </p:sp>
        <p:cxnSp>
          <p:nvCxnSpPr>
            <p:cNvPr id="194" name="Google Shape;194;p32"/>
            <p:cNvCxnSpPr>
              <a:stCxn id="191" idx="3"/>
              <a:endCxn id="177" idx="1"/>
            </p:cNvCxnSpPr>
            <p:nvPr/>
          </p:nvCxnSpPr>
          <p:spPr>
            <a:xfrm flipV="1">
              <a:off x="5376000" y="2723350"/>
              <a:ext cx="427100" cy="59775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5" name="Group 4" descr="User programs request system services through system calls.">
            <a:extLst>
              <a:ext uri="{FF2B5EF4-FFF2-40B4-BE49-F238E27FC236}">
                <a16:creationId xmlns:a16="http://schemas.microsoft.com/office/drawing/2014/main" id="{98C888B7-BA1E-939C-AEF8-3FBBA69522D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GrpSpPr/>
          <p:nvPr/>
        </p:nvGrpSpPr>
        <p:grpSpPr>
          <a:xfrm>
            <a:off x="3125400" y="3335450"/>
            <a:ext cx="2851800" cy="554100"/>
            <a:chOff x="3125400" y="3335450"/>
            <a:chExt cx="2851800" cy="554100"/>
          </a:xfrm>
        </p:grpSpPr>
        <p:sp>
          <p:nvSpPr>
            <p:cNvPr id="193" name="Google Shape;193;p32" descr="User programs request system services through system calls."/>
            <p:cNvSpPr txBox="1"/>
            <p:nvPr/>
          </p:nvSpPr>
          <p:spPr>
            <a:xfrm>
              <a:off x="3125400" y="3335450"/>
              <a:ext cx="2313000" cy="554100"/>
            </a:xfrm>
            <a:prstGeom prst="rect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rgbClr val="FF0000"/>
                  </a:solidFill>
                </a:rPr>
                <a:t>User programs request system services through system calls.</a:t>
              </a:r>
              <a:endParaRPr sz="1200" dirty="0">
                <a:solidFill>
                  <a:srgbClr val="FF0000"/>
                </a:solidFill>
              </a:endParaRPr>
            </a:p>
          </p:txBody>
        </p:sp>
        <p:cxnSp>
          <p:nvCxnSpPr>
            <p:cNvPr id="195" name="Google Shape;195;p32"/>
            <p:cNvCxnSpPr>
              <a:stCxn id="193" idx="3"/>
            </p:cNvCxnSpPr>
            <p:nvPr/>
          </p:nvCxnSpPr>
          <p:spPr>
            <a:xfrm rot="10800000" flipH="1">
              <a:off x="5438400" y="3374000"/>
              <a:ext cx="538800" cy="2385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3"/>
          <p:cNvSpPr txBox="1">
            <a:spLocks noGrp="1"/>
          </p:cNvSpPr>
          <p:nvPr>
            <p:ph type="title"/>
          </p:nvPr>
        </p:nvSpPr>
        <p:spPr>
          <a:xfrm>
            <a:off x="628650" y="105550"/>
            <a:ext cx="7886700" cy="748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Virtual Machines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i="1"/>
              <a:t>Simulating the HW layer</a:t>
            </a:r>
            <a:endParaRPr sz="2000" i="1"/>
          </a:p>
        </p:txBody>
      </p:sp>
      <p:sp>
        <p:nvSpPr>
          <p:cNvPr id="203" name="Google Shape;203;p33"/>
          <p:cNvSpPr txBox="1">
            <a:spLocks noGrp="1"/>
          </p:cNvSpPr>
          <p:nvPr>
            <p:ph type="body" idx="1"/>
          </p:nvPr>
        </p:nvSpPr>
        <p:spPr>
          <a:xfrm>
            <a:off x="595475" y="986725"/>
            <a:ext cx="3632400" cy="3592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/>
              <a:t>Since OS kernel relies on device drivers to interface w/HW, kernel doesn’t (necessarily) know that it’s in a fake world (just like </a:t>
            </a:r>
            <a:r>
              <a:rPr lang="en" sz="1600" u="sng">
                <a:solidFill>
                  <a:schemeClr val="hlink"/>
                </a:solidFill>
                <a:hlinkClick r:id="rId3"/>
              </a:rPr>
              <a:t>The Matrix</a:t>
            </a:r>
            <a:r>
              <a:rPr lang="en" sz="1600"/>
              <a:t>!).</a:t>
            </a:r>
            <a:endParaRPr sz="160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/>
              <a:t>Advantages</a:t>
            </a:r>
            <a:endParaRPr sz="1600"/>
          </a:p>
          <a:p>
            <a:pPr marL="285750" lvl="0" indent="-203200" algn="l" rtl="0">
              <a:spcBef>
                <a:spcPts val="10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Efficient use of HW in data centers</a:t>
            </a:r>
            <a:endParaRPr sz="1400"/>
          </a:p>
          <a:p>
            <a:pPr marL="285750" lvl="0" indent="-203200" algn="l" rtl="0">
              <a:spcBef>
                <a:spcPts val="10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“Playground” for different systems</a:t>
            </a:r>
            <a:endParaRPr sz="1400"/>
          </a:p>
          <a:p>
            <a:pPr marL="285750" lvl="0" indent="-203200" algn="l" rtl="0">
              <a:spcBef>
                <a:spcPts val="10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Consistent environment across systems</a:t>
            </a:r>
            <a:endParaRPr sz="140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/>
              <a:t>Disadvantages</a:t>
            </a:r>
            <a:endParaRPr sz="1600"/>
          </a:p>
          <a:p>
            <a:pPr marL="285750" lvl="0" indent="-203200" algn="l" rtl="0">
              <a:spcBef>
                <a:spcPts val="10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RAM needs are multiplied</a:t>
            </a:r>
            <a:endParaRPr sz="1400"/>
          </a:p>
          <a:p>
            <a:pPr marL="285750" lvl="0" indent="-203200" algn="l" rtl="0">
              <a:spcBef>
                <a:spcPts val="10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Can take up significant storage</a:t>
            </a:r>
            <a:endParaRPr sz="1400"/>
          </a:p>
          <a:p>
            <a:pPr marL="285750" lvl="0" indent="-203200" algn="l" rtl="0">
              <a:spcBef>
                <a:spcPts val="10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For best efficiency need custom drivers</a:t>
            </a:r>
            <a:endParaRPr sz="140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600"/>
          </a:p>
        </p:txBody>
      </p:sp>
      <p:grpSp>
        <p:nvGrpSpPr>
          <p:cNvPr id="6" name="Group 5" descr="Virtualization Hierarchy Diagram&#10;A technical diagram showing the relationship between a Host system and a Guest system in a virtualized environment.&#10;&#10;Host System: Occupies the upper half, featuring physical hardware (keyboard, hard drive, network cable) connected to an Operating System Kernel via Device Drivers.&#10;&#10;Guest System: Enclosed in a large box in the foreground, it contains its own User Programs and Operating System Kernel.&#10;&#10;Virtual Machine Monitor (VMM): Positioned between the Guest Kernel and the Host system, it uses Device Sim (simulations) to mimic hardware functionality for the guest OS.&#10;&#10;The diagram illustrates how a guest operating system runs as a virtualized layer on top of a physical host's resources.">
            <a:extLst>
              <a:ext uri="{FF2B5EF4-FFF2-40B4-BE49-F238E27FC236}">
                <a16:creationId xmlns:a16="http://schemas.microsoft.com/office/drawing/2014/main" id="{2D6F6E9D-C1C8-E5C9-7A54-71E99ADEAB7D}"/>
              </a:ext>
            </a:extLst>
          </p:cNvPr>
          <p:cNvGrpSpPr/>
          <p:nvPr/>
        </p:nvGrpSpPr>
        <p:grpSpPr>
          <a:xfrm>
            <a:off x="4186525" y="1088325"/>
            <a:ext cx="4745150" cy="3491200"/>
            <a:chOff x="4186525" y="1088325"/>
            <a:chExt cx="4745150" cy="3491200"/>
          </a:xfrm>
        </p:grpSpPr>
        <p:grpSp>
          <p:nvGrpSpPr>
            <p:cNvPr id="5" name="Group 4" descr="Host system">
              <a:extLst>
                <a:ext uri="{FF2B5EF4-FFF2-40B4-BE49-F238E27FC236}">
                  <a16:creationId xmlns:a16="http://schemas.microsoft.com/office/drawing/2014/main" id="{97958516-D94C-1CAC-F15B-2A2D8EB50D53}"/>
                </a:ext>
              </a:extLst>
            </p:cNvPr>
            <p:cNvGrpSpPr/>
            <p:nvPr/>
          </p:nvGrpSpPr>
          <p:grpSpPr>
            <a:xfrm>
              <a:off x="4186525" y="1658688"/>
              <a:ext cx="1583400" cy="654300"/>
              <a:chOff x="4186525" y="1658688"/>
              <a:chExt cx="1583400" cy="654300"/>
            </a:xfrm>
          </p:grpSpPr>
          <p:sp>
            <p:nvSpPr>
              <p:cNvPr id="223" name="Google Shape;223;p33" descr="Host system"/>
              <p:cNvSpPr txBox="1"/>
              <p:nvPr/>
            </p:nvSpPr>
            <p:spPr>
              <a:xfrm>
                <a:off x="4186525" y="1658688"/>
                <a:ext cx="1243500" cy="400200"/>
              </a:xfrm>
              <a:prstGeom prst="rect">
                <a:avLst/>
              </a:prstGeom>
              <a:noFill/>
              <a:ln w="9525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i="1" u="sng" dirty="0">
                    <a:solidFill>
                      <a:srgbClr val="FF0000"/>
                    </a:solidFill>
                  </a:rPr>
                  <a:t>Host</a:t>
                </a:r>
                <a:r>
                  <a:rPr lang="en" dirty="0">
                    <a:solidFill>
                      <a:srgbClr val="FF0000"/>
                    </a:solidFill>
                  </a:rPr>
                  <a:t> system</a:t>
                </a:r>
                <a:endParaRPr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226" name="Google Shape;226;p33"/>
              <p:cNvCxnSpPr>
                <a:stCxn id="223" idx="3"/>
              </p:cNvCxnSpPr>
              <p:nvPr/>
            </p:nvCxnSpPr>
            <p:spPr>
              <a:xfrm>
                <a:off x="5430025" y="1858788"/>
                <a:ext cx="339900" cy="4542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grpSp>
          <p:nvGrpSpPr>
            <p:cNvPr id="4" name="Group 3" descr="Operating System Kernel">
              <a:extLst>
                <a:ext uri="{FF2B5EF4-FFF2-40B4-BE49-F238E27FC236}">
                  <a16:creationId xmlns:a16="http://schemas.microsoft.com/office/drawing/2014/main" id="{06EC3128-092D-76F3-193C-FF61309E2DF5}"/>
                </a:ext>
              </a:extLst>
            </p:cNvPr>
            <p:cNvGrpSpPr/>
            <p:nvPr/>
          </p:nvGrpSpPr>
          <p:grpSpPr>
            <a:xfrm>
              <a:off x="5803100" y="1088325"/>
              <a:ext cx="2279700" cy="2247125"/>
              <a:chOff x="5803100" y="1088325"/>
              <a:chExt cx="2279700" cy="2247125"/>
            </a:xfrm>
          </p:grpSpPr>
          <p:sp>
            <p:nvSpPr>
              <p:cNvPr id="201" name="Google Shape;201;p33"/>
              <p:cNvSpPr txBox="1"/>
              <p:nvPr/>
            </p:nvSpPr>
            <p:spPr>
              <a:xfrm>
                <a:off x="5803100" y="2371000"/>
                <a:ext cx="2279700" cy="704700"/>
              </a:xfrm>
              <a:prstGeom prst="rect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Operating System Kernel</a:t>
                </a:r>
                <a:endParaRPr/>
              </a:p>
            </p:txBody>
          </p:sp>
          <p:sp>
            <p:nvSpPr>
              <p:cNvPr id="204" name="Google Shape;204;p33"/>
              <p:cNvSpPr txBox="1"/>
              <p:nvPr/>
            </p:nvSpPr>
            <p:spPr>
              <a:xfrm>
                <a:off x="5950575" y="2135875"/>
                <a:ext cx="630000" cy="3447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18275" rIns="91425" bIns="1827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/>
                  <a:t>Device</a:t>
                </a:r>
                <a:endParaRPr sz="1000"/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/>
                  <a:t>Driver</a:t>
                </a:r>
                <a:endParaRPr sz="1000"/>
              </a:p>
            </p:txBody>
          </p:sp>
          <p:pic>
            <p:nvPicPr>
              <p:cNvPr id="205" name="Google Shape;205;p33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 rot="5400000">
                <a:off x="6052213" y="1687200"/>
                <a:ext cx="426725" cy="4706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6" name="Google Shape;206;p33"/>
              <p:cNvSpPr txBox="1"/>
              <p:nvPr/>
            </p:nvSpPr>
            <p:spPr>
              <a:xfrm>
                <a:off x="6616950" y="2135875"/>
                <a:ext cx="630000" cy="3447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18275" rIns="91425" bIns="1827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dirty="0"/>
                  <a:t>Device</a:t>
                </a:r>
                <a:endParaRPr sz="1000" dirty="0"/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dirty="0"/>
                  <a:t>Driver</a:t>
                </a:r>
                <a:endParaRPr sz="1000" dirty="0"/>
              </a:p>
            </p:txBody>
          </p:sp>
          <p:pic>
            <p:nvPicPr>
              <p:cNvPr id="207" name="Google Shape;207;p33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 rot="5400000">
                <a:off x="6718588" y="1687200"/>
                <a:ext cx="426725" cy="4706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8" name="Google Shape;208;p33"/>
              <p:cNvSpPr txBox="1"/>
              <p:nvPr/>
            </p:nvSpPr>
            <p:spPr>
              <a:xfrm>
                <a:off x="7283325" y="2135875"/>
                <a:ext cx="630000" cy="3447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18275" rIns="91425" bIns="1827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dirty="0"/>
                  <a:t>Device</a:t>
                </a:r>
                <a:endParaRPr sz="1000" dirty="0"/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dirty="0"/>
                  <a:t>Driver</a:t>
                </a:r>
                <a:endParaRPr sz="1000" dirty="0"/>
              </a:p>
            </p:txBody>
          </p:sp>
          <p:pic>
            <p:nvPicPr>
              <p:cNvPr id="209" name="Google Shape;209;p33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 rot="5400000">
                <a:off x="7384963" y="1687200"/>
                <a:ext cx="426725" cy="4706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0" name="Google Shape;210;p33"/>
              <p:cNvSpPr txBox="1"/>
              <p:nvPr/>
            </p:nvSpPr>
            <p:spPr>
              <a:xfrm>
                <a:off x="7102675" y="2990750"/>
                <a:ext cx="721200" cy="3447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18275" rIns="91425" bIns="1827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/>
                  <a:t>User</a:t>
                </a:r>
                <a:endParaRPr sz="1000"/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/>
                  <a:t>Program</a:t>
                </a:r>
                <a:endParaRPr sz="1000"/>
              </a:p>
            </p:txBody>
          </p:sp>
          <p:pic>
            <p:nvPicPr>
              <p:cNvPr id="211" name="Google Shape;211;p33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6684950" y="1138975"/>
                <a:ext cx="516010" cy="6208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12" name="Google Shape;212;p33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7514775" y="1088325"/>
                <a:ext cx="398554" cy="6208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13" name="Google Shape;213;p33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6030250" y="1310600"/>
                <a:ext cx="398550" cy="3985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" name="Group 2" descr="Guest system">
              <a:extLst>
                <a:ext uri="{FF2B5EF4-FFF2-40B4-BE49-F238E27FC236}">
                  <a16:creationId xmlns:a16="http://schemas.microsoft.com/office/drawing/2014/main" id="{90A314B8-B52F-D2B1-EA78-1C5656F953D4}"/>
                </a:ext>
              </a:extLst>
            </p:cNvPr>
            <p:cNvGrpSpPr/>
            <p:nvPr/>
          </p:nvGrpSpPr>
          <p:grpSpPr>
            <a:xfrm>
              <a:off x="7187475" y="3634250"/>
              <a:ext cx="1744200" cy="400200"/>
              <a:chOff x="7187475" y="3634250"/>
              <a:chExt cx="1744200" cy="400200"/>
            </a:xfrm>
          </p:grpSpPr>
          <p:sp>
            <p:nvSpPr>
              <p:cNvPr id="224" name="Google Shape;224;p33" descr="Guest system"/>
              <p:cNvSpPr txBox="1"/>
              <p:nvPr/>
            </p:nvSpPr>
            <p:spPr>
              <a:xfrm>
                <a:off x="7552275" y="3634250"/>
                <a:ext cx="1379400" cy="400200"/>
              </a:xfrm>
              <a:prstGeom prst="rect">
                <a:avLst/>
              </a:prstGeom>
              <a:noFill/>
              <a:ln w="9525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i="1" u="sng" dirty="0">
                    <a:solidFill>
                      <a:srgbClr val="FF0000"/>
                    </a:solidFill>
                  </a:rPr>
                  <a:t>Guest</a:t>
                </a:r>
                <a:r>
                  <a:rPr lang="en" dirty="0">
                    <a:solidFill>
                      <a:srgbClr val="FF0000"/>
                    </a:solidFill>
                  </a:rPr>
                  <a:t> system</a:t>
                </a:r>
                <a:endParaRPr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225" name="Google Shape;225;p33"/>
              <p:cNvCxnSpPr>
                <a:stCxn id="224" idx="1"/>
              </p:cNvCxnSpPr>
              <p:nvPr/>
            </p:nvCxnSpPr>
            <p:spPr>
              <a:xfrm flipH="1">
                <a:off x="7187475" y="3834350"/>
                <a:ext cx="364800" cy="207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grpSp>
          <p:nvGrpSpPr>
            <p:cNvPr id="214" name="Google Shape;214;p33" descr="Virtual Machine"/>
            <p:cNvGrpSpPr/>
            <p:nvPr/>
          </p:nvGrpSpPr>
          <p:grpSpPr>
            <a:xfrm>
              <a:off x="4638325" y="2863525"/>
              <a:ext cx="2424900" cy="1716000"/>
              <a:chOff x="3096350" y="2135875"/>
              <a:chExt cx="2424900" cy="1716000"/>
            </a:xfrm>
          </p:grpSpPr>
          <p:sp>
            <p:nvSpPr>
              <p:cNvPr id="215" name="Google Shape;215;p33"/>
              <p:cNvSpPr/>
              <p:nvPr/>
            </p:nvSpPr>
            <p:spPr>
              <a:xfrm>
                <a:off x="3096350" y="2135875"/>
                <a:ext cx="2424900" cy="17160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33"/>
              <p:cNvSpPr txBox="1"/>
              <p:nvPr/>
            </p:nvSpPr>
            <p:spPr>
              <a:xfrm>
                <a:off x="3179363" y="2227050"/>
                <a:ext cx="2221800" cy="400200"/>
              </a:xfrm>
              <a:prstGeom prst="rect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dirty="0"/>
                  <a:t>Virtual machine monitor</a:t>
                </a:r>
                <a:endParaRPr dirty="0"/>
              </a:p>
            </p:txBody>
          </p:sp>
          <p:sp>
            <p:nvSpPr>
              <p:cNvPr id="217" name="Google Shape;217;p33"/>
              <p:cNvSpPr txBox="1"/>
              <p:nvPr/>
            </p:nvSpPr>
            <p:spPr>
              <a:xfrm>
                <a:off x="3154463" y="2793850"/>
                <a:ext cx="2279700" cy="704700"/>
              </a:xfrm>
              <a:prstGeom prst="rect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Operating System Kernel</a:t>
                </a:r>
                <a:endParaRPr/>
              </a:p>
            </p:txBody>
          </p:sp>
          <p:sp>
            <p:nvSpPr>
              <p:cNvPr id="218" name="Google Shape;218;p33"/>
              <p:cNvSpPr txBox="1"/>
              <p:nvPr/>
            </p:nvSpPr>
            <p:spPr>
              <a:xfrm>
                <a:off x="3301938" y="2558725"/>
                <a:ext cx="630000" cy="3447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18275" rIns="91425" bIns="1827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/>
                  <a:t>Device</a:t>
                </a:r>
                <a:endParaRPr sz="1000"/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/>
                  <a:t>Sim</a:t>
                </a:r>
                <a:endParaRPr sz="1000"/>
              </a:p>
            </p:txBody>
          </p:sp>
          <p:sp>
            <p:nvSpPr>
              <p:cNvPr id="219" name="Google Shape;219;p33"/>
              <p:cNvSpPr txBox="1"/>
              <p:nvPr/>
            </p:nvSpPr>
            <p:spPr>
              <a:xfrm>
                <a:off x="3968313" y="2558725"/>
                <a:ext cx="630000" cy="3447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18275" rIns="91425" bIns="1827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/>
                  <a:t>Device</a:t>
                </a:r>
                <a:endParaRPr sz="1000"/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/>
                  <a:t>Sim</a:t>
                </a:r>
                <a:endParaRPr sz="1000"/>
              </a:p>
            </p:txBody>
          </p:sp>
          <p:sp>
            <p:nvSpPr>
              <p:cNvPr id="220" name="Google Shape;220;p33"/>
              <p:cNvSpPr txBox="1"/>
              <p:nvPr/>
            </p:nvSpPr>
            <p:spPr>
              <a:xfrm>
                <a:off x="4634688" y="2558725"/>
                <a:ext cx="630000" cy="3447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18275" rIns="91425" bIns="1827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/>
                  <a:t>Device</a:t>
                </a:r>
                <a:endParaRPr sz="1000"/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/>
                  <a:t>Sim</a:t>
                </a:r>
                <a:endParaRPr sz="1000"/>
              </a:p>
            </p:txBody>
          </p:sp>
          <p:sp>
            <p:nvSpPr>
              <p:cNvPr id="221" name="Google Shape;221;p33"/>
              <p:cNvSpPr txBox="1"/>
              <p:nvPr/>
            </p:nvSpPr>
            <p:spPr>
              <a:xfrm>
                <a:off x="3436188" y="3413600"/>
                <a:ext cx="721200" cy="3447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18275" rIns="91425" bIns="1827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/>
                  <a:t>User</a:t>
                </a:r>
                <a:endParaRPr sz="1000"/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/>
                  <a:t>Program</a:t>
                </a:r>
                <a:endParaRPr sz="1000"/>
              </a:p>
            </p:txBody>
          </p:sp>
          <p:sp>
            <p:nvSpPr>
              <p:cNvPr id="222" name="Google Shape;222;p33"/>
              <p:cNvSpPr txBox="1"/>
              <p:nvPr/>
            </p:nvSpPr>
            <p:spPr>
              <a:xfrm>
                <a:off x="4454038" y="3413600"/>
                <a:ext cx="721200" cy="3447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18275" rIns="91425" bIns="1827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/>
                  <a:t>User</a:t>
                </a:r>
                <a:endParaRPr sz="1000"/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/>
                  <a:t>Program</a:t>
                </a:r>
                <a:endParaRPr sz="1000"/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4"/>
          <p:cNvSpPr txBox="1">
            <a:spLocks noGrp="1"/>
          </p:cNvSpPr>
          <p:nvPr>
            <p:ph type="title"/>
          </p:nvPr>
        </p:nvSpPr>
        <p:spPr>
          <a:xfrm>
            <a:off x="628650" y="99475"/>
            <a:ext cx="7886700" cy="748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Virtual Machines</a:t>
            </a:r>
            <a:endParaRPr/>
          </a:p>
        </p:txBody>
      </p:sp>
      <p:sp>
        <p:nvSpPr>
          <p:cNvPr id="232" name="Google Shape;232;p34"/>
          <p:cNvSpPr txBox="1">
            <a:spLocks noGrp="1"/>
          </p:cNvSpPr>
          <p:nvPr>
            <p:ph type="body" idx="1"/>
          </p:nvPr>
        </p:nvSpPr>
        <p:spPr>
          <a:xfrm>
            <a:off x="628650" y="986725"/>
            <a:ext cx="7886700" cy="3592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In this class we will use:</a:t>
            </a:r>
            <a:endParaRPr sz="2000"/>
          </a:p>
          <a:p>
            <a:pPr marL="342900" lvl="0" indent="-228600" algn="l" rtl="0">
              <a:spcBef>
                <a:spcPts val="4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VirtualBox software for Virtual Machine Monitor</a:t>
            </a:r>
            <a:endParaRPr/>
          </a:p>
          <a:p>
            <a:pPr marL="342900" lvl="0" indent="-2286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VM image is LUbuntu (Lightweight version of Ubuntu Linux)</a:t>
            </a:r>
            <a:endParaRPr/>
          </a:p>
          <a:p>
            <a:pPr marL="342900" lvl="0" indent="-2286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VM image provided so everyone has the same environment</a:t>
            </a:r>
            <a:endParaRPr/>
          </a:p>
          <a:p>
            <a:pPr marL="342900" lvl="0" indent="-2286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All needed software is pre-installed (VS Code, etc.)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60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/>
              <a:t>Some initial Linux usage notes:</a:t>
            </a:r>
            <a:endParaRPr/>
          </a:p>
          <a:p>
            <a:pPr marL="457200" lvl="0" indent="-342900" algn="l" rtl="0">
              <a:spcBef>
                <a:spcPts val="2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Primary means for interaction (for us) is via a shell/command line</a:t>
            </a:r>
            <a:endParaRPr/>
          </a:p>
          <a:p>
            <a:pPr marL="457200" lvl="0" indent="-342900" algn="l" rtl="0">
              <a:spcBef>
                <a:spcPts val="2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Format of commands:  </a:t>
            </a:r>
            <a:r>
              <a:rPr lang="en" i="1">
                <a:latin typeface="Ubuntu Mono"/>
                <a:ea typeface="Ubuntu Mono"/>
                <a:cs typeface="Ubuntu Mono"/>
                <a:sym typeface="Ubuntu Mono"/>
              </a:rPr>
              <a:t>command argument1 argument2 …</a:t>
            </a:r>
            <a:endParaRPr i="1">
              <a:latin typeface="Ubuntu Mono"/>
              <a:ea typeface="Ubuntu Mono"/>
              <a:cs typeface="Ubuntu Mono"/>
              <a:sym typeface="Ubuntu Mono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"/>
              <a:t>“</a:t>
            </a: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ls</a:t>
            </a:r>
            <a:r>
              <a:rPr lang="en"/>
              <a:t>” (or “</a:t>
            </a: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ls -l</a:t>
            </a:r>
            <a:r>
              <a:rPr lang="en"/>
              <a:t>”) lists files in current directory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"/>
              <a:t>“</a:t>
            </a: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cd </a:t>
            </a:r>
            <a:r>
              <a:rPr lang="en" i="1">
                <a:latin typeface="Ubuntu Mono"/>
                <a:ea typeface="Ubuntu Mono"/>
                <a:cs typeface="Ubuntu Mono"/>
                <a:sym typeface="Ubuntu Mono"/>
              </a:rPr>
              <a:t>dirname</a:t>
            </a:r>
            <a:r>
              <a:rPr lang="en"/>
              <a:t>” changes current directory to dirname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"/>
              <a:t>“</a:t>
            </a: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cat </a:t>
            </a:r>
            <a:r>
              <a:rPr lang="en" i="1">
                <a:latin typeface="Ubuntu Mono"/>
                <a:ea typeface="Ubuntu Mono"/>
                <a:cs typeface="Ubuntu Mono"/>
                <a:sym typeface="Ubuntu Mono"/>
              </a:rPr>
              <a:t>filename</a:t>
            </a:r>
            <a:r>
              <a:rPr lang="en"/>
              <a:t>” or “</a:t>
            </a: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more </a:t>
            </a:r>
            <a:r>
              <a:rPr lang="en" i="1">
                <a:latin typeface="Ubuntu Mono"/>
                <a:ea typeface="Ubuntu Mono"/>
                <a:cs typeface="Ubuntu Mono"/>
                <a:sym typeface="Ubuntu Mono"/>
              </a:rPr>
              <a:t>filename</a:t>
            </a:r>
            <a:r>
              <a:rPr lang="en"/>
              <a:t>” - shows contents of file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5"/>
          <p:cNvSpPr txBox="1">
            <a:spLocks noGrp="1"/>
          </p:cNvSpPr>
          <p:nvPr>
            <p:ph type="title"/>
          </p:nvPr>
        </p:nvSpPr>
        <p:spPr>
          <a:xfrm>
            <a:off x="628650" y="120790"/>
            <a:ext cx="7886700" cy="748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and Modifying Files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i="1"/>
              <a:t>Editors in Linux</a:t>
            </a:r>
            <a:endParaRPr sz="2200" i="1"/>
          </a:p>
        </p:txBody>
      </p:sp>
      <p:sp>
        <p:nvSpPr>
          <p:cNvPr id="238" name="Google Shape;238;p35"/>
          <p:cNvSpPr txBox="1">
            <a:spLocks noGrp="1"/>
          </p:cNvSpPr>
          <p:nvPr>
            <p:ph type="body" idx="1"/>
          </p:nvPr>
        </p:nvSpPr>
        <p:spPr>
          <a:xfrm>
            <a:off x="628650" y="986737"/>
            <a:ext cx="7886700" cy="3592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dirty="0"/>
              <a:t>For coding, range of options from basic editor to fully-featured IDE</a:t>
            </a:r>
            <a:endParaRPr dirty="0"/>
          </a:p>
          <a:p>
            <a:pPr marL="0" lvl="0" indent="0" algn="l" rtl="0">
              <a:spcBef>
                <a:spcPts val="2400"/>
              </a:spcBef>
              <a:spcAft>
                <a:spcPts val="0"/>
              </a:spcAft>
              <a:buNone/>
            </a:pPr>
            <a:r>
              <a:rPr lang="en" dirty="0"/>
              <a:t>Pure text editors (work well in a text connection, including over SSH):</a:t>
            </a:r>
            <a:endParaRPr dirty="0"/>
          </a:p>
          <a:p>
            <a:pPr marL="342900" lvl="0" indent="-215900" algn="l" rtl="0">
              <a:spcBef>
                <a:spcPts val="200"/>
              </a:spcBef>
              <a:spcAft>
                <a:spcPts val="0"/>
              </a:spcAft>
              <a:buSzPts val="1600"/>
              <a:buChar char="•"/>
            </a:pPr>
            <a:r>
              <a:rPr lang="en" sz="1600" dirty="0"/>
              <a:t>vi/vim:  Powerful and universal - modes take some learning</a:t>
            </a:r>
            <a:endParaRPr sz="1600" dirty="0"/>
          </a:p>
          <a:p>
            <a:pPr marL="342900" lvl="0" indent="-215900" algn="l" rtl="0">
              <a:spcBef>
                <a:spcPts val="200"/>
              </a:spcBef>
              <a:spcAft>
                <a:spcPts val="0"/>
              </a:spcAft>
              <a:buSzPts val="1600"/>
              <a:buChar char="•"/>
            </a:pPr>
            <a:r>
              <a:rPr lang="en" sz="1600" dirty="0"/>
              <a:t>emacs: Super-powerful - text version is hard to learn, but GUI available</a:t>
            </a:r>
            <a:endParaRPr sz="1600" dirty="0"/>
          </a:p>
          <a:p>
            <a:pPr marL="342900" lvl="0" indent="-215900" algn="l" rtl="0">
              <a:spcBef>
                <a:spcPts val="200"/>
              </a:spcBef>
              <a:spcAft>
                <a:spcPts val="0"/>
              </a:spcAft>
              <a:buSzPts val="1600"/>
              <a:buChar char="•"/>
            </a:pPr>
            <a:r>
              <a:rPr lang="en" sz="1600" dirty="0"/>
              <a:t>nano: A slimmed down, very simple editor - minimal code editing support</a:t>
            </a:r>
            <a:endParaRPr sz="1600" dirty="0"/>
          </a:p>
          <a:p>
            <a:pPr marL="0" lvl="0" indent="0" algn="l" rtl="0">
              <a:spcBef>
                <a:spcPts val="2400"/>
              </a:spcBef>
              <a:spcAft>
                <a:spcPts val="0"/>
              </a:spcAft>
              <a:buNone/>
            </a:pPr>
            <a:r>
              <a:rPr lang="en" dirty="0"/>
              <a:t>GUI editors include:</a:t>
            </a:r>
            <a:endParaRPr dirty="0"/>
          </a:p>
          <a:p>
            <a:pPr marL="342900" lvl="0" indent="-215900" algn="l" rtl="0">
              <a:spcBef>
                <a:spcPts val="200"/>
              </a:spcBef>
              <a:spcAft>
                <a:spcPts val="0"/>
              </a:spcAft>
              <a:buSzPts val="1600"/>
              <a:buChar char="•"/>
            </a:pPr>
            <a:r>
              <a:rPr lang="en" sz="1600" dirty="0"/>
              <a:t>VS Code (Visual Studio Code)</a:t>
            </a:r>
            <a:endParaRPr sz="1600" dirty="0"/>
          </a:p>
          <a:p>
            <a:pPr marL="685800" lvl="1" indent="-209550" algn="l" rtl="0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 dirty="0"/>
              <a:t>Free, open source code editor from Microsoft</a:t>
            </a:r>
            <a:endParaRPr sz="1500" dirty="0"/>
          </a:p>
          <a:p>
            <a:pPr marL="685800" lvl="1" indent="-2095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•"/>
            </a:pPr>
            <a:r>
              <a:rPr lang="en" sz="1500" dirty="0">
                <a:solidFill>
                  <a:schemeClr val="dk2"/>
                </a:solidFill>
              </a:rPr>
              <a:t>Uses external compiler (gcc or clang), debugger (gdb), and VCS (git)</a:t>
            </a:r>
            <a:endParaRPr sz="1500" dirty="0">
              <a:solidFill>
                <a:schemeClr val="dk2"/>
              </a:solidFill>
            </a:endParaRPr>
          </a:p>
          <a:p>
            <a:pPr marL="685800" lvl="1" indent="-209550" algn="l" rtl="0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 dirty="0"/>
              <a:t>With integrations to compilers, debuggers, and Git/VCS, almost a full IDE</a:t>
            </a:r>
            <a:endParaRPr sz="1500" dirty="0"/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6"/>
          <p:cNvSpPr txBox="1">
            <a:spLocks noGrp="1"/>
          </p:cNvSpPr>
          <p:nvPr>
            <p:ph type="title"/>
          </p:nvPr>
        </p:nvSpPr>
        <p:spPr>
          <a:xfrm>
            <a:off x="628650" y="105550"/>
            <a:ext cx="7886700" cy="748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notes for slides...</a:t>
            </a:r>
            <a:endParaRPr/>
          </a:p>
        </p:txBody>
      </p:sp>
      <p:sp>
        <p:nvSpPr>
          <p:cNvPr id="246" name="Google Shape;246;p36"/>
          <p:cNvSpPr txBox="1">
            <a:spLocks noGrp="1"/>
          </p:cNvSpPr>
          <p:nvPr>
            <p:ph type="body" idx="1"/>
          </p:nvPr>
        </p:nvSpPr>
        <p:spPr>
          <a:xfrm>
            <a:off x="628650" y="986737"/>
            <a:ext cx="7886700" cy="3592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7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</a:rPr>
              <a:t>Before next class you should:</a:t>
            </a:r>
            <a:endParaRPr dirty="0">
              <a:solidFill>
                <a:schemeClr val="dk2"/>
              </a:solidFill>
            </a:endParaRPr>
          </a:p>
          <a:p>
            <a:pPr marL="400050" lvl="0" indent="-2159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 sz="1600" dirty="0">
                <a:solidFill>
                  <a:schemeClr val="dk2"/>
                </a:solidFill>
              </a:rPr>
              <a:t>Set up your GitHub account</a:t>
            </a:r>
            <a:endParaRPr sz="1600" dirty="0">
              <a:solidFill>
                <a:schemeClr val="dk2"/>
              </a:solidFill>
            </a:endParaRPr>
          </a:p>
          <a:p>
            <a:pPr marL="914400" lvl="1" indent="-203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➢"/>
            </a:pPr>
            <a:r>
              <a:rPr lang="en" sz="1400" dirty="0">
                <a:solidFill>
                  <a:schemeClr val="dk2"/>
                </a:solidFill>
              </a:rPr>
              <a:t>Includes accepting a GitHub classroom “invitation” to link account to class</a:t>
            </a:r>
            <a:endParaRPr sz="1400" dirty="0">
              <a:solidFill>
                <a:schemeClr val="dk2"/>
              </a:solidFill>
            </a:endParaRPr>
          </a:p>
          <a:p>
            <a:pPr marL="40005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 sz="1600" dirty="0">
                <a:solidFill>
                  <a:schemeClr val="dk2"/>
                </a:solidFill>
              </a:rPr>
              <a:t>Download and install the VM image</a:t>
            </a:r>
            <a:endParaRPr sz="1600" dirty="0">
              <a:solidFill>
                <a:schemeClr val="dk2"/>
              </a:solidFill>
            </a:endParaRPr>
          </a:p>
          <a:p>
            <a:pPr marL="914400" lvl="1" indent="-203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➢"/>
            </a:pPr>
            <a:r>
              <a:rPr lang="en" sz="1400" dirty="0">
                <a:solidFill>
                  <a:schemeClr val="dk2"/>
                </a:solidFill>
              </a:rPr>
              <a:t>Boot it up to make sure it works!</a:t>
            </a:r>
            <a:endParaRPr dirty="0">
              <a:solidFill>
                <a:schemeClr val="dk2"/>
              </a:solidFill>
            </a:endParaRPr>
          </a:p>
          <a:p>
            <a:pPr marL="40005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 sz="1600" i="1" u="sng" dirty="0">
                <a:solidFill>
                  <a:schemeClr val="dk2"/>
                </a:solidFill>
              </a:rPr>
              <a:t>If possible</a:t>
            </a:r>
            <a:r>
              <a:rPr lang="en" sz="1600" dirty="0">
                <a:solidFill>
                  <a:schemeClr val="dk2"/>
                </a:solidFill>
              </a:rPr>
              <a:t>: Set up SSH authentication to GitHub in your VM</a:t>
            </a:r>
            <a:endParaRPr sz="16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6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600" dirty="0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i="1" dirty="0">
                <a:solidFill>
                  <a:schemeClr val="dk2"/>
                </a:solidFill>
              </a:rPr>
              <a:t>And now…  some demos...</a:t>
            </a:r>
            <a:endParaRPr i="1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NCG - CSC 581">
  <a:themeElements>
    <a:clrScheme name="Custom 1">
      <a:dk1>
        <a:srgbClr val="000000"/>
      </a:dk1>
      <a:lt1>
        <a:srgbClr val="FFFFFF"/>
      </a:lt1>
      <a:dk2>
        <a:srgbClr val="0F2044"/>
      </a:dk2>
      <a:lt2>
        <a:srgbClr val="BEC0C2"/>
      </a:lt2>
      <a:accent1>
        <a:srgbClr val="FFB71B"/>
      </a:accent1>
      <a:accent2>
        <a:srgbClr val="4FC2BF"/>
      </a:accent2>
      <a:accent3>
        <a:srgbClr val="00698C"/>
      </a:accent3>
      <a:accent4>
        <a:srgbClr val="A00C30"/>
      </a:accent4>
      <a:accent5>
        <a:srgbClr val="A59C87"/>
      </a:accent5>
      <a:accent6>
        <a:srgbClr val="92D1B3"/>
      </a:accent6>
      <a:hlink>
        <a:srgbClr val="507BD8"/>
      </a:hlink>
      <a:folHlink>
        <a:srgbClr val="EDEF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UNCG Navy Background">
  <a:themeElements>
    <a:clrScheme name="Custom 1">
      <a:dk1>
        <a:srgbClr val="000000"/>
      </a:dk1>
      <a:lt1>
        <a:srgbClr val="FFFFFF"/>
      </a:lt1>
      <a:dk2>
        <a:srgbClr val="0F2044"/>
      </a:dk2>
      <a:lt2>
        <a:srgbClr val="BEC0C2"/>
      </a:lt2>
      <a:accent1>
        <a:srgbClr val="FFB71B"/>
      </a:accent1>
      <a:accent2>
        <a:srgbClr val="4FC2BF"/>
      </a:accent2>
      <a:accent3>
        <a:srgbClr val="00698C"/>
      </a:accent3>
      <a:accent4>
        <a:srgbClr val="A00C30"/>
      </a:accent4>
      <a:accent5>
        <a:srgbClr val="A59C87"/>
      </a:accent5>
      <a:accent6>
        <a:srgbClr val="92D1B3"/>
      </a:accent6>
      <a:hlink>
        <a:srgbClr val="507BD8"/>
      </a:hlink>
      <a:folHlink>
        <a:srgbClr val="EDEF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a2761ec8-7198-4440-bea0-e9dd2af28b51}" enabled="1" method="Standard" siteId="{73e15cf5-5dbb-46af-a862-753916269d7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1821</Words>
  <Application>Microsoft Office PowerPoint</Application>
  <PresentationFormat>On-screen Show (16:9)</PresentationFormat>
  <Paragraphs>231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Ubuntu Mono</vt:lpstr>
      <vt:lpstr>Georgia</vt:lpstr>
      <vt:lpstr>Arial</vt:lpstr>
      <vt:lpstr>Times New Roman</vt:lpstr>
      <vt:lpstr>UNCG - CSC 581</vt:lpstr>
      <vt:lpstr>UNCG Navy Background</vt:lpstr>
      <vt:lpstr>Class Introduction </vt:lpstr>
      <vt:lpstr>About This Class</vt:lpstr>
      <vt:lpstr>Class Structure</vt:lpstr>
      <vt:lpstr>Status Check</vt:lpstr>
      <vt:lpstr>Syllabus Review</vt:lpstr>
      <vt:lpstr>Role of the Operating System</vt:lpstr>
      <vt:lpstr>Virtual Machines Simulating the HW layer</vt:lpstr>
      <vt:lpstr>Virtual Machines</vt:lpstr>
      <vt:lpstr>Creating and Modifying Files Editors in Linux</vt:lpstr>
      <vt:lpstr>Final notes for slides...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Richard Johnson</cp:lastModifiedBy>
  <cp:revision>47</cp:revision>
  <dcterms:modified xsi:type="dcterms:W3CDTF">2026-01-13T22:38:00Z</dcterms:modified>
</cp:coreProperties>
</file>
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161" autoAdjust="0"/>
  </p:normalViewPr>
  <p:slideViewPr>
    <p:cSldViewPr>
      <p:cViewPr varScale="1">
        <p:scale>
          <a:sx n="58" d="100"/>
          <a:sy n="58" d="100"/>
        </p:scale>
        <p:origin x="734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9B4FC9-9D09-4B01-84B5-7164305BF390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270BA-B53D-4952-9831-39EBF9263E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54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Oh My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an open-source, community-driven framework designed to help you manage your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configuration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provides a collection of pre-built scripts, sensible defaults, and a modular architecture for themes and plugins.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 Benefits of Oh My </a:t>
            </a:r>
            <a:r>
              <a:rPr lang="en-US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Ease of Setup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 provides a streamlined way to configure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Zsh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without needing deep knowledge of shell scripting.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You can easily change your terminal's appearance using over 150 built-in themes.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Productivity Plugins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 includes over 300 optional plugins for tools like Git, macOS, Docker, and Node.js.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Auto-Updates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built-in tool helps you keep your configuration and plugins up to date with the latest community improvements.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Git Plugin Features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Since you were just working with Git, the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 plugin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one of the most popular features. It provides functions and nearly 200 aliases to speed up your workflow: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 - Full Git Command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gst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status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pull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push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 - git add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gcmsg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commit –m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git checkout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A270BA-B53D-4952-9831-39EBF9263E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21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89749" y="2170725"/>
            <a:ext cx="2706370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725700" y="2170725"/>
            <a:ext cx="3902709" cy="406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689861"/>
            <a:ext cx="5414645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41917" y="2198920"/>
            <a:ext cx="10708165" cy="3881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F204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1762184" y="3585985"/>
            <a:ext cx="866203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2400" dirty="0">
                <a:solidFill>
                  <a:srgbClr val="0F2044"/>
                </a:solidFill>
                <a:latin typeface="Arial MT"/>
                <a:cs typeface="Arial MT"/>
              </a:rPr>
              <a:t>Linux Environment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2183" y="4259898"/>
            <a:ext cx="8910456" cy="533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sz="1600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1325" y="2041316"/>
            <a:ext cx="5215890" cy="4154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04495">
              <a:lnSpc>
                <a:spcPct val="100000"/>
              </a:lnSpc>
              <a:spcBef>
                <a:spcPts val="100"/>
              </a:spcBef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Run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C/C++</a:t>
            </a:r>
            <a:r>
              <a:rPr sz="23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code</a:t>
            </a:r>
            <a:r>
              <a:rPr sz="23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3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VScode</a:t>
            </a:r>
            <a:endParaRPr sz="230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Preprocessor</a:t>
            </a:r>
            <a:r>
              <a:rPr sz="23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directives</a:t>
            </a:r>
            <a:endParaRPr sz="230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Source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code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compilation</a:t>
            </a:r>
            <a:r>
              <a:rPr sz="23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endParaRPr sz="230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C: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23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Structures</a:t>
            </a:r>
            <a:endParaRPr sz="2300">
              <a:latin typeface="Arial MT"/>
              <a:cs typeface="Arial MT"/>
            </a:endParaRPr>
          </a:p>
          <a:p>
            <a:pPr marL="469265" indent="-4044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C: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Continue,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extern,</a:t>
            </a:r>
            <a:r>
              <a:rPr sz="23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sizeof,</a:t>
            </a: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 etc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Clr>
                <a:srgbClr val="0F2044"/>
              </a:buClr>
              <a:buFont typeface="Arial MT"/>
              <a:buChar char="●"/>
            </a:pP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  <a:p>
            <a:pPr marL="469265" indent="-404495">
              <a:lnSpc>
                <a:spcPct val="100000"/>
              </a:lnSpc>
              <a:spcBef>
                <a:spcPts val="1520"/>
              </a:spcBef>
              <a:buChar char="●"/>
              <a:tabLst>
                <a:tab pos="469265" algn="l"/>
              </a:tabLst>
            </a:pPr>
            <a:r>
              <a:rPr sz="2300" spc="-25" dirty="0">
                <a:solidFill>
                  <a:srgbClr val="0F2044"/>
                </a:solidFill>
                <a:latin typeface="Arial MT"/>
                <a:cs typeface="Arial MT"/>
              </a:rPr>
              <a:t>Terminal</a:t>
            </a:r>
            <a:r>
              <a:rPr sz="2300" spc="-9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2300" spc="-6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Navigation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Manipulation</a:t>
            </a:r>
            <a:r>
              <a:rPr sz="23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endParaRPr sz="2300">
              <a:latin typeface="Arial MT"/>
              <a:cs typeface="Arial MT"/>
            </a:endParaRPr>
          </a:p>
          <a:p>
            <a:pPr marL="926465" lvl="1" indent="-404495">
              <a:lnSpc>
                <a:spcPct val="100000"/>
              </a:lnSpc>
              <a:buChar char="○"/>
              <a:tabLst>
                <a:tab pos="926465" algn="l"/>
              </a:tabLst>
            </a:pPr>
            <a:r>
              <a:rPr sz="2300" dirty="0">
                <a:solidFill>
                  <a:srgbClr val="0F2044"/>
                </a:solidFill>
                <a:latin typeface="Arial MT"/>
                <a:cs typeface="Arial MT"/>
              </a:rPr>
              <a:t>Environment</a:t>
            </a:r>
            <a:r>
              <a:rPr sz="2300" spc="-5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300" spc="-10" dirty="0">
                <a:solidFill>
                  <a:srgbClr val="0F2044"/>
                </a:solidFill>
                <a:latin typeface="Arial MT"/>
                <a:cs typeface="Arial MT"/>
              </a:rPr>
              <a:t>Variables</a:t>
            </a:r>
            <a:endParaRPr sz="230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2973"/>
            <a:ext cx="402844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Understanding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Terminal</a:t>
            </a:r>
            <a:br>
              <a:rPr lang="en-US" spc="-10" dirty="0"/>
            </a:br>
            <a:r>
              <a:rPr lang="en-US" sz="1800" dirty="0"/>
              <a:t>GUI</a:t>
            </a:r>
            <a:r>
              <a:rPr lang="en-US" sz="1800" spc="-25" dirty="0"/>
              <a:t> </a:t>
            </a:r>
            <a:r>
              <a:rPr lang="en-US" sz="1800" dirty="0"/>
              <a:t>vs</a:t>
            </a:r>
            <a:r>
              <a:rPr lang="en-US" sz="1800" spc="-20" dirty="0"/>
              <a:t> </a:t>
            </a:r>
            <a:r>
              <a:rPr lang="en-US" sz="1800" spc="-25" dirty="0"/>
              <a:t>CLI</a:t>
            </a:r>
            <a:endParaRPr sz="1800"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1797963"/>
            <a:ext cx="7766050" cy="45012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1800" dirty="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GUI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(Graphical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User</a:t>
            </a:r>
            <a:r>
              <a:rPr sz="1800" spc="-20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Interface)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469900" marR="716280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Visual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Interface: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Users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interact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system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graphical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elements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like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windows,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icons,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menus.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User-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Friendly: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Easier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learn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beginners.</a:t>
            </a:r>
            <a:endParaRPr sz="1800" dirty="0">
              <a:latin typeface="Arial MT"/>
              <a:cs typeface="Arial MT"/>
            </a:endParaRPr>
          </a:p>
          <a:p>
            <a:pPr marL="469900" marR="287020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Limited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Control:</a:t>
            </a:r>
            <a:r>
              <a:rPr sz="18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Typically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offers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less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granular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compared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CLI.</a:t>
            </a:r>
            <a:endParaRPr sz="18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CLI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(Command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980000"/>
                </a:solidFill>
                <a:latin typeface="Arial MT"/>
                <a:cs typeface="Arial MT"/>
              </a:rPr>
              <a:t>Line</a:t>
            </a:r>
            <a:r>
              <a:rPr sz="1800" spc="-25" dirty="0">
                <a:solidFill>
                  <a:srgbClr val="980000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980000"/>
                </a:solidFill>
                <a:latin typeface="Arial MT"/>
                <a:cs typeface="Arial MT"/>
              </a:rPr>
              <a:t>Interface)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spc="-55" dirty="0">
                <a:solidFill>
                  <a:srgbClr val="0F2044"/>
                </a:solidFill>
                <a:latin typeface="Arial MT"/>
                <a:cs typeface="Arial MT"/>
              </a:rPr>
              <a:t>Text-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based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Input: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Users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type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commands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perform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specific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tasks.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Flexibility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Power: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Offers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flexibility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over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system.</a:t>
            </a:r>
            <a:endParaRPr sz="1800" dirty="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buChar char="●"/>
              <a:tabLst>
                <a:tab pos="469265" algn="l"/>
              </a:tabLst>
            </a:pP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Scriptability:</a:t>
            </a:r>
            <a:r>
              <a:rPr sz="1800" spc="-1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Allows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automation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through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scripting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(e.g.,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Bash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scripts).</a:t>
            </a:r>
            <a:endParaRPr sz="1800" dirty="0">
              <a:latin typeface="Arial MT"/>
              <a:cs typeface="Arial MT"/>
            </a:endParaRPr>
          </a:p>
          <a:p>
            <a:pPr marL="469900" marR="283845" indent="-367030">
              <a:lnSpc>
                <a:spcPct val="100000"/>
              </a:lnSpc>
              <a:buChar char="●"/>
              <a:tabLst>
                <a:tab pos="469900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Efficiency: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Often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faster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experienced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users,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especially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repetitive tasks.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1825" y="1593366"/>
            <a:ext cx="3325039" cy="44264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42973"/>
            <a:ext cx="4028440" cy="6745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/>
              <a:t>Understanding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Terminal</a:t>
            </a:r>
            <a:br>
              <a:rPr lang="en-US" spc="-10" dirty="0"/>
            </a:br>
            <a:r>
              <a:rPr lang="en-US" sz="1800" dirty="0"/>
              <a:t>The</a:t>
            </a:r>
            <a:r>
              <a:rPr lang="en-US" sz="1800" spc="-55" dirty="0"/>
              <a:t> </a:t>
            </a:r>
            <a:r>
              <a:rPr lang="en-US" sz="1800" dirty="0"/>
              <a:t>shell</a:t>
            </a:r>
            <a:r>
              <a:rPr lang="en-US" sz="1800" spc="-50" dirty="0"/>
              <a:t> </a:t>
            </a:r>
            <a:r>
              <a:rPr lang="en-US" sz="1800" dirty="0"/>
              <a:t>(bash,</a:t>
            </a:r>
            <a:r>
              <a:rPr lang="en-US" sz="1800" spc="-55" dirty="0"/>
              <a:t> </a:t>
            </a:r>
            <a:r>
              <a:rPr lang="en-US" sz="1800" dirty="0" err="1"/>
              <a:t>zsh</a:t>
            </a:r>
            <a:r>
              <a:rPr lang="en-US" sz="1800" dirty="0"/>
              <a:t>,</a:t>
            </a:r>
            <a:r>
              <a:rPr lang="en-US" sz="1800" spc="-50" dirty="0"/>
              <a:t> </a:t>
            </a:r>
            <a:r>
              <a:rPr lang="en-US" sz="1800" dirty="0" err="1"/>
              <a:t>cmd</a:t>
            </a:r>
            <a:r>
              <a:rPr lang="en-US" sz="1800" dirty="0"/>
              <a:t>,</a:t>
            </a:r>
            <a:r>
              <a:rPr lang="en-US" sz="1800" spc="-50" dirty="0"/>
              <a:t> </a:t>
            </a:r>
            <a:r>
              <a:rPr lang="en-US" sz="1800" spc="-20" dirty="0" err="1"/>
              <a:t>etc</a:t>
            </a:r>
            <a:r>
              <a:rPr lang="en-US" sz="1800" spc="-20" dirty="0"/>
              <a:t>)</a:t>
            </a:r>
            <a:endParaRPr sz="1800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489749" y="2170725"/>
            <a:ext cx="2706370" cy="40640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Bash</a:t>
            </a:r>
            <a:r>
              <a:rPr sz="1400" b="1" spc="-4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(Bourne</a:t>
            </a:r>
            <a:r>
              <a:rPr sz="1400" b="1" spc="-7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Again</a:t>
            </a:r>
            <a:r>
              <a:rPr sz="1400" b="1" spc="-2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00C30"/>
                </a:solidFill>
                <a:latin typeface="Arial"/>
                <a:cs typeface="Arial"/>
              </a:rPr>
              <a:t>Shell):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Arial"/>
              <a:cs typeface="Arial"/>
            </a:endParaRPr>
          </a:p>
          <a:p>
            <a:pPr marL="85725" marR="12446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most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widely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shell,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especially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4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Linux</a:t>
            </a:r>
            <a:r>
              <a:rPr sz="14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distributions.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 MT"/>
              <a:cs typeface="Arial MT"/>
            </a:endParaRPr>
          </a:p>
          <a:p>
            <a:pPr marL="542925" marR="328930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Scripting:</a:t>
            </a:r>
            <a:r>
              <a:rPr sz="14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Extensive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support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writing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shell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scripts.</a:t>
            </a:r>
            <a:endParaRPr sz="1400" dirty="0">
              <a:latin typeface="Arial MT"/>
              <a:cs typeface="Arial MT"/>
            </a:endParaRPr>
          </a:p>
          <a:p>
            <a:pPr marL="542925" marR="170815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Command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History:</a:t>
            </a:r>
            <a:r>
              <a:rPr sz="1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Ability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recall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reuse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previous</a:t>
            </a:r>
            <a:r>
              <a:rPr sz="14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commands.</a:t>
            </a:r>
            <a:endParaRPr sz="1400" dirty="0">
              <a:latin typeface="Arial MT"/>
              <a:cs typeface="Arial MT"/>
            </a:endParaRPr>
          </a:p>
          <a:p>
            <a:pPr marL="542290" indent="-335915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sz="1400" spc="-40" dirty="0">
                <a:solidFill>
                  <a:srgbClr val="0F2044"/>
                </a:solidFill>
                <a:latin typeface="Arial MT"/>
                <a:cs typeface="Arial MT"/>
              </a:rPr>
              <a:t>Tab</a:t>
            </a:r>
            <a:r>
              <a:rPr sz="14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Completion:</a:t>
            </a:r>
            <a:endParaRPr sz="1400" dirty="0">
              <a:latin typeface="Arial MT"/>
              <a:cs typeface="Arial MT"/>
            </a:endParaRPr>
          </a:p>
          <a:p>
            <a:pPr marL="542925" marR="308610">
              <a:lnSpc>
                <a:spcPct val="100000"/>
              </a:lnSpc>
            </a:pP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Auto-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completion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file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names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commands.</a:t>
            </a:r>
            <a:endParaRPr sz="1400" dirty="0">
              <a:latin typeface="Arial MT"/>
              <a:cs typeface="Arial MT"/>
            </a:endParaRPr>
          </a:p>
          <a:p>
            <a:pPr marL="542925" marR="220979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Portability:</a:t>
            </a:r>
            <a:r>
              <a:rPr sz="14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Available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on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most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UNIX-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like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systems.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8149" y="2170725"/>
            <a:ext cx="3180715" cy="38481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Zsh</a:t>
            </a:r>
            <a:r>
              <a:rPr sz="1400" b="1" spc="-15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(Z</a:t>
            </a:r>
            <a:r>
              <a:rPr sz="1400" b="1" spc="-10" dirty="0">
                <a:solidFill>
                  <a:srgbClr val="A00C30"/>
                </a:solidFill>
                <a:latin typeface="Arial"/>
                <a:cs typeface="Arial"/>
              </a:rPr>
              <a:t> Shell)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 dirty="0">
              <a:latin typeface="Arial"/>
              <a:cs typeface="Arial"/>
            </a:endParaRPr>
          </a:p>
          <a:p>
            <a:pPr marL="85725" marR="4495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extended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version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Bash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with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features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customization options.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sz="14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 dirty="0">
              <a:latin typeface="Arial MT"/>
              <a:cs typeface="Arial MT"/>
            </a:endParaRPr>
          </a:p>
          <a:p>
            <a:pPr marL="542925" marR="499745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925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Enhanced</a:t>
            </a:r>
            <a:r>
              <a:rPr sz="1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40" dirty="0">
                <a:solidFill>
                  <a:srgbClr val="0F2044"/>
                </a:solidFill>
                <a:latin typeface="Arial MT"/>
                <a:cs typeface="Arial MT"/>
              </a:rPr>
              <a:t>Tab</a:t>
            </a:r>
            <a:r>
              <a:rPr sz="14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Completion: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More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context-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aware</a:t>
            </a:r>
            <a:r>
              <a:rPr sz="14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than 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Bash.</a:t>
            </a:r>
            <a:endParaRPr sz="1400" dirty="0">
              <a:latin typeface="Arial MT"/>
              <a:cs typeface="Arial MT"/>
            </a:endParaRPr>
          </a:p>
          <a:p>
            <a:pPr marL="542925" marR="101600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Theme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Plugin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Support: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Customizable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themes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(e.g.,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Oh-My-Zsh)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plugins.</a:t>
            </a:r>
            <a:endParaRPr sz="1400" dirty="0">
              <a:latin typeface="Arial MT"/>
              <a:cs typeface="Arial MT"/>
            </a:endParaRPr>
          </a:p>
          <a:p>
            <a:pPr marL="542925" marR="80645" indent="-336550">
              <a:lnSpc>
                <a:spcPct val="100000"/>
              </a:lnSpc>
              <a:buChar char="●"/>
              <a:tabLst>
                <a:tab pos="542925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Better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Scripting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Features: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Improved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handling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arrays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and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globbing.</a:t>
            </a:r>
            <a:endParaRPr sz="1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25700" y="2170725"/>
            <a:ext cx="3902710" cy="406400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810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15"/>
              </a:spcBef>
            </a:pP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Command</a:t>
            </a:r>
            <a:r>
              <a:rPr sz="14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A00C30"/>
                </a:solidFill>
                <a:latin typeface="Arial"/>
                <a:cs typeface="Arial"/>
              </a:rPr>
              <a:t>Prompt</a:t>
            </a:r>
            <a:r>
              <a:rPr sz="1400" b="1" spc="-20" dirty="0">
                <a:solidFill>
                  <a:srgbClr val="A00C30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A00C30"/>
                </a:solidFill>
                <a:latin typeface="Arial"/>
                <a:cs typeface="Arial"/>
              </a:rPr>
              <a:t>(cmd)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Arial"/>
              <a:cs typeface="Arial"/>
            </a:endParaRPr>
          </a:p>
          <a:p>
            <a:pPr marL="85090" marR="1847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traditional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command-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line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interpreter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for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Windows,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available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since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early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versions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of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OS.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Arial MT"/>
              <a:cs typeface="Arial MT"/>
            </a:endParaRPr>
          </a:p>
          <a:p>
            <a:pPr marL="8509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Features: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Arial MT"/>
              <a:cs typeface="Arial MT"/>
            </a:endParaRPr>
          </a:p>
          <a:p>
            <a:pPr marL="542290" marR="448309" indent="-336550">
              <a:lnSpc>
                <a:spcPct val="100000"/>
              </a:lnSpc>
              <a:spcBef>
                <a:spcPts val="5"/>
              </a:spcBef>
              <a:buChar char="●"/>
              <a:tabLst>
                <a:tab pos="542290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Shell: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Provides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text-based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interface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running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batch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scripts,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executing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commands,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managing files.</a:t>
            </a:r>
            <a:endParaRPr sz="1400">
              <a:latin typeface="Arial MT"/>
              <a:cs typeface="Arial MT"/>
            </a:endParaRPr>
          </a:p>
          <a:p>
            <a:pPr marL="542290" marR="222250" indent="-336550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Compatibility:</a:t>
            </a:r>
            <a:r>
              <a:rPr sz="14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Limited</a:t>
            </a:r>
            <a:r>
              <a:rPr sz="14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features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compared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PowerShell,</a:t>
            </a:r>
            <a:r>
              <a:rPr sz="14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but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still</a:t>
            </a:r>
            <a:r>
              <a:rPr sz="14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widely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 tasks.</a:t>
            </a:r>
            <a:endParaRPr sz="1400">
              <a:latin typeface="Arial MT"/>
              <a:cs typeface="Arial MT"/>
            </a:endParaRPr>
          </a:p>
          <a:p>
            <a:pPr marL="542290" marR="351155" indent="-336550">
              <a:lnSpc>
                <a:spcPct val="100000"/>
              </a:lnSpc>
              <a:buChar char="●"/>
              <a:tabLst>
                <a:tab pos="542290" algn="l"/>
              </a:tabLst>
            </a:pP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Simplicity: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Easier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basic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operations,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but</a:t>
            </a:r>
            <a:r>
              <a:rPr sz="14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lacks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advanced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0F2044"/>
                </a:solidFill>
                <a:latin typeface="Arial MT"/>
                <a:cs typeface="Arial MT"/>
              </a:rPr>
              <a:t>capabilities</a:t>
            </a:r>
            <a:r>
              <a:rPr sz="14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400" spc="-25" dirty="0">
                <a:solidFill>
                  <a:srgbClr val="0F2044"/>
                </a:solidFill>
                <a:latin typeface="Arial MT"/>
                <a:cs typeface="Arial MT"/>
              </a:rPr>
              <a:t>of </a:t>
            </a:r>
            <a:r>
              <a:rPr sz="1400" spc="-10" dirty="0">
                <a:solidFill>
                  <a:srgbClr val="0F2044"/>
                </a:solidFill>
                <a:latin typeface="Arial MT"/>
                <a:cs typeface="Arial MT"/>
              </a:rPr>
              <a:t>PowerShell.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Enhance</a:t>
            </a:r>
            <a:r>
              <a:rPr spc="-90" dirty="0"/>
              <a:t> </a:t>
            </a:r>
            <a:r>
              <a:rPr dirty="0"/>
              <a:t>VS</a:t>
            </a:r>
            <a:r>
              <a:rPr spc="-90" dirty="0"/>
              <a:t> </a:t>
            </a:r>
            <a:r>
              <a:rPr dirty="0"/>
              <a:t>Code</a:t>
            </a:r>
            <a:r>
              <a:rPr spc="-90" dirty="0"/>
              <a:t> </a:t>
            </a:r>
            <a:r>
              <a:rPr dirty="0"/>
              <a:t>Terminal</a:t>
            </a:r>
            <a:r>
              <a:rPr spc="-90" dirty="0"/>
              <a:t> </a:t>
            </a:r>
            <a:r>
              <a:rPr spc="-10" dirty="0"/>
              <a:t>(Optional)</a:t>
            </a:r>
          </a:p>
        </p:txBody>
      </p:sp>
      <p:pic>
        <p:nvPicPr>
          <p:cNvPr id="3" name="object 3" descr="A command-line interface showing a directory being renamed using 'git mv', followed by a status update confirming the file move is staged for commit.&quot;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5750" y="2251600"/>
            <a:ext cx="6229974" cy="3333999"/>
          </a:xfrm>
          <a:prstGeom prst="rect">
            <a:avLst/>
          </a:prstGeom>
        </p:spPr>
      </p:pic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7075" y="2251591"/>
            <a:ext cx="5261475" cy="1842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7590625" cy="39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Enhance</a:t>
            </a:r>
            <a:r>
              <a:rPr spc="-90" dirty="0"/>
              <a:t> </a:t>
            </a:r>
            <a:r>
              <a:rPr dirty="0"/>
              <a:t>VS</a:t>
            </a:r>
            <a:r>
              <a:rPr spc="-90" dirty="0"/>
              <a:t> </a:t>
            </a:r>
            <a:r>
              <a:rPr dirty="0"/>
              <a:t>Code</a:t>
            </a:r>
            <a:r>
              <a:rPr spc="-90" dirty="0"/>
              <a:t> </a:t>
            </a:r>
            <a:r>
              <a:rPr dirty="0"/>
              <a:t>Terminal</a:t>
            </a:r>
            <a:r>
              <a:rPr spc="-90" dirty="0"/>
              <a:t> </a:t>
            </a:r>
            <a:r>
              <a:rPr spc="-10" dirty="0"/>
              <a:t>(Optional)</a:t>
            </a:r>
            <a:r>
              <a:rPr lang="en-US" spc="-10" dirty="0"/>
              <a:t> (cont.)</a:t>
            </a:r>
            <a:endParaRPr spc="-10" dirty="0"/>
          </a:p>
        </p:txBody>
      </p:sp>
      <p:pic>
        <p:nvPicPr>
          <p:cNvPr id="3" name="object 3" descr="A terminal window showing a colorful, segmented prompt with status icons for Git branch (master), battery life, time, and programming language versions (Node.js and Python), followed by the output of a 'git status' comman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2282325"/>
            <a:ext cx="9519442" cy="38898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80" dirty="0"/>
              <a:t> </a:t>
            </a:r>
            <a:r>
              <a:rPr spc="-10" dirty="0"/>
              <a:t>Navigation</a:t>
            </a:r>
            <a:r>
              <a:rPr spc="-75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6017" y="2295769"/>
            <a:ext cx="10764520" cy="353060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459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ls: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 directory.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-l:</a:t>
            </a:r>
            <a:r>
              <a:rPr sz="20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detailed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(long)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endParaRPr sz="2000">
              <a:latin typeface="Arial MT"/>
              <a:cs typeface="Arial MT"/>
            </a:endParaRPr>
          </a:p>
          <a:p>
            <a:pPr marL="394335" marR="1727835" indent="-382270">
              <a:lnSpc>
                <a:spcPct val="114999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-lh: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format,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sizes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displayed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human-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readable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(e.g.,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KB,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MB).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-lt:</a:t>
            </a:r>
            <a:r>
              <a:rPr sz="20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format,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sorted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modification</a:t>
            </a:r>
            <a:r>
              <a:rPr sz="20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time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(newest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first).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3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-lS:</a:t>
            </a:r>
            <a:r>
              <a:rPr sz="20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long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format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sizes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shown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blocks,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sorted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size.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</a:t>
            </a:r>
            <a:r>
              <a:rPr sz="2000" b="1" spc="-4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-a:</a:t>
            </a:r>
            <a:r>
              <a:rPr sz="20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Lists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all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contents,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including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hidden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files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(those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starting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20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dot).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pwd:</a:t>
            </a:r>
            <a:r>
              <a:rPr sz="2000" b="1" spc="-4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Prints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working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directory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(shows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your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current</a:t>
            </a:r>
            <a:r>
              <a:rPr sz="2000" spc="-4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location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filesystem).</a:t>
            </a:r>
            <a:endParaRPr sz="2000">
              <a:latin typeface="Arial MT"/>
              <a:cs typeface="Arial MT"/>
            </a:endParaRPr>
          </a:p>
          <a:p>
            <a:pPr marL="394335" marR="5080" indent="-382270">
              <a:lnSpc>
                <a:spcPct val="114999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which</a:t>
            </a:r>
            <a:r>
              <a:rPr sz="20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F2044"/>
                </a:solidFill>
                <a:latin typeface="Arial"/>
                <a:cs typeface="Arial"/>
              </a:rPr>
              <a:t>ls:</a:t>
            </a:r>
            <a:r>
              <a:rPr sz="20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Shows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path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executable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ls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command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(useful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check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where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0F2044"/>
                </a:solidFill>
                <a:latin typeface="Arial MT"/>
                <a:cs typeface="Arial MT"/>
              </a:rPr>
              <a:t>a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command</a:t>
            </a:r>
            <a:r>
              <a:rPr sz="20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20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0F2044"/>
                </a:solidFill>
                <a:latin typeface="Arial MT"/>
                <a:cs typeface="Arial MT"/>
              </a:rPr>
              <a:t>located).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65" dirty="0"/>
              <a:t> </a:t>
            </a:r>
            <a:r>
              <a:rPr dirty="0"/>
              <a:t>Manipulation</a:t>
            </a:r>
            <a:r>
              <a:rPr spc="-60" dirty="0"/>
              <a:t> </a:t>
            </a:r>
            <a:r>
              <a:rPr spc="-10" dirty="0"/>
              <a:t>Commands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425450" indent="-381635">
              <a:lnSpc>
                <a:spcPct val="100000"/>
              </a:lnSpc>
              <a:spcBef>
                <a:spcPts val="4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cd: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dirty="0"/>
              <a:t>Changes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current</a:t>
            </a:r>
            <a:r>
              <a:rPr spc="-30" dirty="0"/>
              <a:t> </a:t>
            </a:r>
            <a:r>
              <a:rPr dirty="0"/>
              <a:t>directory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user's</a:t>
            </a:r>
            <a:r>
              <a:rPr spc="-30" dirty="0"/>
              <a:t> </a:t>
            </a:r>
            <a:r>
              <a:rPr dirty="0"/>
              <a:t>home</a:t>
            </a:r>
            <a:r>
              <a:rPr spc="-25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00000"/>
              </a:lnSpc>
              <a:spcBef>
                <a:spcPts val="360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&lt;directory&gt;:</a:t>
            </a:r>
            <a:r>
              <a:rPr b="1" spc="-35" dirty="0">
                <a:latin typeface="Arial"/>
                <a:cs typeface="Arial"/>
              </a:rPr>
              <a:t> </a:t>
            </a:r>
            <a:r>
              <a:rPr dirty="0"/>
              <a:t>Changes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current</a:t>
            </a:r>
            <a:r>
              <a:rPr spc="-35" dirty="0"/>
              <a:t> </a:t>
            </a:r>
            <a:r>
              <a:rPr dirty="0"/>
              <a:t>directory</a:t>
            </a:r>
            <a:r>
              <a:rPr spc="-35" dirty="0"/>
              <a:t> </a:t>
            </a:r>
            <a:r>
              <a:rPr dirty="0"/>
              <a:t>to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specified</a:t>
            </a:r>
            <a:r>
              <a:rPr spc="-35" dirty="0"/>
              <a:t> </a:t>
            </a:r>
            <a:r>
              <a:rPr spc="-10" dirty="0"/>
              <a:t>&lt;directory&gt;.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..: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Moves</a:t>
            </a:r>
            <a:r>
              <a:rPr spc="-30" dirty="0"/>
              <a:t> </a:t>
            </a:r>
            <a:r>
              <a:rPr dirty="0"/>
              <a:t>up</a:t>
            </a:r>
            <a:r>
              <a:rPr spc="-25" dirty="0"/>
              <a:t> </a:t>
            </a:r>
            <a:r>
              <a:rPr dirty="0"/>
              <a:t>one</a:t>
            </a:r>
            <a:r>
              <a:rPr spc="-30" dirty="0"/>
              <a:t> </a:t>
            </a:r>
            <a:r>
              <a:rPr dirty="0"/>
              <a:t>level</a:t>
            </a:r>
            <a:r>
              <a:rPr spc="-2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parent</a:t>
            </a:r>
            <a:r>
              <a:rPr spc="-30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cd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../..: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Moves</a:t>
            </a:r>
            <a:r>
              <a:rPr spc="-25" dirty="0"/>
              <a:t> </a:t>
            </a:r>
            <a:r>
              <a:rPr dirty="0"/>
              <a:t>up</a:t>
            </a:r>
            <a:r>
              <a:rPr spc="-25" dirty="0"/>
              <a:t> </a:t>
            </a:r>
            <a:r>
              <a:rPr dirty="0"/>
              <a:t>two</a:t>
            </a:r>
            <a:r>
              <a:rPr spc="-25" dirty="0"/>
              <a:t> </a:t>
            </a:r>
            <a:r>
              <a:rPr dirty="0"/>
              <a:t>levels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grandparent</a:t>
            </a:r>
            <a:r>
              <a:rPr spc="-25" dirty="0"/>
              <a:t> </a:t>
            </a:r>
            <a:r>
              <a:rPr spc="-10" dirty="0"/>
              <a:t>directory.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mkdir: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Create</a:t>
            </a:r>
            <a:r>
              <a:rPr spc="-15" dirty="0"/>
              <a:t> </a:t>
            </a:r>
            <a:r>
              <a:rPr spc="-10" dirty="0"/>
              <a:t>folder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rmdir:</a:t>
            </a:r>
            <a:r>
              <a:rPr b="1" spc="-55" dirty="0">
                <a:latin typeface="Arial"/>
                <a:cs typeface="Arial"/>
              </a:rPr>
              <a:t> </a:t>
            </a:r>
            <a:r>
              <a:rPr dirty="0"/>
              <a:t>Remove</a:t>
            </a:r>
            <a:r>
              <a:rPr spc="-55" dirty="0"/>
              <a:t> </a:t>
            </a:r>
            <a:r>
              <a:rPr spc="-10" dirty="0"/>
              <a:t>folder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mv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old_folder_name</a:t>
            </a:r>
            <a:r>
              <a:rPr b="1" spc="-4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new_folder_name:</a:t>
            </a:r>
            <a:r>
              <a:rPr b="1" spc="-45" dirty="0">
                <a:latin typeface="Arial"/>
                <a:cs typeface="Arial"/>
              </a:rPr>
              <a:t> </a:t>
            </a:r>
            <a:r>
              <a:rPr dirty="0"/>
              <a:t>Rename</a:t>
            </a:r>
            <a:r>
              <a:rPr spc="-40" dirty="0"/>
              <a:t> </a:t>
            </a:r>
            <a:r>
              <a:rPr dirty="0"/>
              <a:t>folder</a:t>
            </a:r>
            <a:r>
              <a:rPr spc="-40" dirty="0"/>
              <a:t> </a:t>
            </a:r>
            <a:r>
              <a:rPr spc="-10" dirty="0"/>
              <a:t>names</a:t>
            </a:r>
          </a:p>
          <a:p>
            <a:pPr marL="425450" marR="5080" indent="-382270">
              <a:lnSpc>
                <a:spcPct val="114999"/>
              </a:lnSpc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touch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Creates</a:t>
            </a:r>
            <a:r>
              <a:rPr spc="-25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dirty="0"/>
              <a:t>empty</a:t>
            </a:r>
            <a:r>
              <a:rPr spc="-25" dirty="0"/>
              <a:t> </a:t>
            </a:r>
            <a:r>
              <a:rPr dirty="0"/>
              <a:t>file</a:t>
            </a:r>
            <a:r>
              <a:rPr spc="-30" dirty="0"/>
              <a:t> </a:t>
            </a:r>
            <a:r>
              <a:rPr dirty="0"/>
              <a:t>named</a:t>
            </a:r>
            <a:r>
              <a:rPr spc="-25" dirty="0"/>
              <a:t> </a:t>
            </a:r>
            <a:r>
              <a:rPr dirty="0"/>
              <a:t>filename.txt</a:t>
            </a:r>
            <a:r>
              <a:rPr spc="-25" dirty="0"/>
              <a:t> </a:t>
            </a:r>
            <a:r>
              <a:rPr dirty="0"/>
              <a:t>or</a:t>
            </a:r>
            <a:r>
              <a:rPr spc="-25" dirty="0"/>
              <a:t> </a:t>
            </a:r>
            <a:r>
              <a:rPr dirty="0"/>
              <a:t>updates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dirty="0"/>
              <a:t>timestamp</a:t>
            </a:r>
            <a:r>
              <a:rPr spc="-25" dirty="0"/>
              <a:t> </a:t>
            </a:r>
            <a:r>
              <a:rPr dirty="0"/>
              <a:t>if</a:t>
            </a:r>
            <a:r>
              <a:rPr spc="-25" dirty="0"/>
              <a:t> it </a:t>
            </a:r>
            <a:r>
              <a:rPr dirty="0"/>
              <a:t>already</a:t>
            </a:r>
            <a:r>
              <a:rPr spc="-75" dirty="0"/>
              <a:t> </a:t>
            </a:r>
            <a:r>
              <a:rPr spc="-10" dirty="0"/>
              <a:t>exists.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open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0" dirty="0">
                <a:latin typeface="Arial"/>
                <a:cs typeface="Arial"/>
              </a:rPr>
              <a:t> </a:t>
            </a:r>
            <a:r>
              <a:rPr dirty="0"/>
              <a:t>Open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empty</a:t>
            </a:r>
            <a:r>
              <a:rPr spc="-20" dirty="0"/>
              <a:t> file</a:t>
            </a:r>
          </a:p>
          <a:p>
            <a:pPr marL="425450" indent="-381635">
              <a:lnSpc>
                <a:spcPct val="100000"/>
              </a:lnSpc>
              <a:spcBef>
                <a:spcPts val="359"/>
              </a:spcBef>
              <a:buFont typeface="Arial MT"/>
              <a:buChar char="●"/>
              <a:tabLst>
                <a:tab pos="425450" algn="l"/>
              </a:tabLst>
            </a:pPr>
            <a:r>
              <a:rPr b="1" dirty="0">
                <a:latin typeface="Arial"/>
                <a:cs typeface="Arial"/>
              </a:rPr>
              <a:t>cat</a:t>
            </a:r>
            <a:r>
              <a:rPr b="1" spc="-30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filename.txt:</a:t>
            </a:r>
            <a:r>
              <a:rPr b="1" spc="-25" dirty="0">
                <a:latin typeface="Arial"/>
                <a:cs typeface="Arial"/>
              </a:rPr>
              <a:t> </a:t>
            </a:r>
            <a:r>
              <a:rPr dirty="0"/>
              <a:t>Displays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contents</a:t>
            </a:r>
            <a:r>
              <a:rPr spc="-2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filename.txt</a:t>
            </a:r>
            <a:r>
              <a:rPr spc="-25" dirty="0"/>
              <a:t>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terminal.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689861"/>
            <a:ext cx="327977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Environment</a:t>
            </a:r>
            <a:r>
              <a:rPr spc="-95" dirty="0"/>
              <a:t> </a:t>
            </a:r>
            <a:r>
              <a:rPr spc="-10" dirty="0"/>
              <a:t>Variables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17" y="2081190"/>
            <a:ext cx="8182609" cy="322580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94335" indent="-381635">
              <a:lnSpc>
                <a:spcPct val="100000"/>
              </a:lnSpc>
              <a:spcBef>
                <a:spcPts val="13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Hello: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Prints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text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"Hello"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terminal.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food=pizza:</a:t>
            </a:r>
            <a:r>
              <a:rPr sz="2000" b="1" spc="-1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Assign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value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</a:t>
            </a:r>
            <a:endParaRPr sz="2000">
              <a:latin typeface="Arial MT"/>
              <a:cs typeface="Arial MT"/>
            </a:endParaRPr>
          </a:p>
          <a:p>
            <a:pPr marL="394335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what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food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do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I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want\?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$food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$HOME: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Displays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path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user's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home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directory.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3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$USER:</a:t>
            </a:r>
            <a:r>
              <a:rPr sz="2000" b="1" spc="-3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Prints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username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user.</a:t>
            </a:r>
            <a:endParaRPr sz="2000">
              <a:latin typeface="Arial MT"/>
              <a:cs typeface="Arial MT"/>
            </a:endParaRPr>
          </a:p>
          <a:p>
            <a:pPr marL="394335" marR="49530" indent="-382270">
              <a:lnSpc>
                <a:spcPct val="150000"/>
              </a:lnSpc>
              <a:buFont typeface="Arial MT"/>
              <a:buChar char="●"/>
              <a:tabLst>
                <a:tab pos="394335" algn="l"/>
              </a:tabLst>
            </a:pPr>
            <a:r>
              <a:rPr sz="2000" b="1" dirty="0">
                <a:latin typeface="Arial"/>
                <a:cs typeface="Arial"/>
              </a:rPr>
              <a:t>echo</a:t>
            </a:r>
            <a:r>
              <a:rPr sz="2000" b="1" spc="-55" dirty="0">
                <a:latin typeface="Arial"/>
                <a:cs typeface="Arial"/>
              </a:rPr>
              <a:t> $PATH: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Displays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current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user's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80" dirty="0">
                <a:latin typeface="Arial MT"/>
                <a:cs typeface="Arial MT"/>
              </a:rPr>
              <a:t>PATH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environment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variable </a:t>
            </a:r>
            <a:r>
              <a:rPr sz="2000" dirty="0">
                <a:latin typeface="Arial MT"/>
                <a:cs typeface="Arial MT"/>
              </a:rPr>
              <a:t>(directories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where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system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looks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for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executable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files).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963</Words>
  <Application>Microsoft Office PowerPoint</Application>
  <PresentationFormat>Widescreen</PresentationFormat>
  <Paragraphs>109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Arial MT</vt:lpstr>
      <vt:lpstr>Georgia</vt:lpstr>
      <vt:lpstr>Office Theme</vt:lpstr>
      <vt:lpstr>CSC 362: System Programming</vt:lpstr>
      <vt:lpstr>Status Check</vt:lpstr>
      <vt:lpstr>Understanding the Terminal GUI vs CLI</vt:lpstr>
      <vt:lpstr>Understanding the Terminal The shell (bash, zsh, cmd, etc)</vt:lpstr>
      <vt:lpstr>Enhance VS Code Terminal (Optional)</vt:lpstr>
      <vt:lpstr>Enhance VS Code Terminal (Optional) (cont.)</vt:lpstr>
      <vt:lpstr>Basic Navigation Commands</vt:lpstr>
      <vt:lpstr>File Manipulation Commands</vt:lpstr>
      <vt:lpstr>Environment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3.pptx</dc:title>
  <cp:lastModifiedBy>Richard Johnson</cp:lastModifiedBy>
  <cp:revision>4</cp:revision>
  <dcterms:created xsi:type="dcterms:W3CDTF">2026-01-14T00:57:53Z</dcterms:created>
  <dcterms:modified xsi:type="dcterms:W3CDTF">2026-01-16T17:42:40Z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
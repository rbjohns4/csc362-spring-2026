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8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720747"/>
            <a:ext cx="5692140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8726" y="2647305"/>
            <a:ext cx="5560060" cy="202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your.email@example.com" TargetMode="External"/><Relationship Id="rId5" Type="http://schemas.openxmlformats.org/officeDocument/2006/relationships/hyperlink" Target="https://git-scm.com/" TargetMode="Externa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mailto:your.email@example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mailto:git@github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kraken.com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ongkiat.com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447878" y="3585985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F2044"/>
                </a:solidFill>
                <a:latin typeface="Arial MT"/>
                <a:cs typeface="Arial MT"/>
              </a:rPr>
              <a:t>Git Setup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2182" y="4259898"/>
            <a:ext cx="8662035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1600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1600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2041316"/>
            <a:ext cx="4721860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04495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Understanding</a:t>
            </a:r>
            <a:r>
              <a:rPr sz="23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Shells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(CLI)</a:t>
            </a:r>
            <a:endParaRPr sz="230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Terminal</a:t>
            </a:r>
            <a:r>
              <a:rPr sz="2300" spc="-9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Navigation</a:t>
            </a:r>
            <a:r>
              <a:rPr sz="23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Manipulation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Environment</a:t>
            </a:r>
            <a:r>
              <a:rPr sz="23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endParaRPr sz="23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buClr>
                <a:srgbClr val="0F2044"/>
              </a:buClr>
              <a:buFont typeface="Arial MT"/>
              <a:buChar char="○"/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04495" marR="1760220" indent="-404495" algn="r">
              <a:lnSpc>
                <a:spcPct val="100000"/>
              </a:lnSpc>
              <a:spcBef>
                <a:spcPts val="1520"/>
              </a:spcBef>
              <a:buChar char="●"/>
              <a:tabLst>
                <a:tab pos="40449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GitHub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404495" marR="1839595" lvl="1" indent="-404495" algn="r">
              <a:lnSpc>
                <a:spcPct val="100000"/>
              </a:lnSpc>
              <a:buChar char="○"/>
              <a:tabLst>
                <a:tab pos="40449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Configuring</a:t>
            </a:r>
            <a:r>
              <a:rPr sz="23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Authentication</a:t>
            </a:r>
            <a:r>
              <a:rPr sz="23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23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SSH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Workflow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Install</a:t>
            </a:r>
            <a:r>
              <a:rPr spc="-35" dirty="0"/>
              <a:t> </a:t>
            </a:r>
            <a:r>
              <a:rPr spc="-25" dirty="0"/>
              <a:t>Git</a:t>
            </a: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6249" y="1073862"/>
            <a:ext cx="3376049" cy="1409775"/>
          </a:xfrm>
          <a:prstGeom prst="rect">
            <a:avLst/>
          </a:prstGeom>
        </p:spPr>
      </p:pic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0362" y="2940800"/>
            <a:ext cx="3227825" cy="1694600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1125" y="4931848"/>
            <a:ext cx="3126298" cy="1694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0555" y="2571613"/>
            <a:ext cx="26035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100"/>
              </a:spcBef>
              <a:buChar char="●"/>
              <a:tabLst>
                <a:tab pos="371475" algn="l"/>
              </a:tabLst>
            </a:pP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Verify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Git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installation: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374" y="29249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90"/>
              </a:spcBef>
            </a:pPr>
            <a:r>
              <a:rPr sz="1600" dirty="0">
                <a:latin typeface="Arial MT"/>
                <a:cs typeface="Arial MT"/>
              </a:rPr>
              <a:t>git </a:t>
            </a:r>
            <a:r>
              <a:rPr sz="1600" spc="-20" dirty="0">
                <a:latin typeface="Arial MT"/>
                <a:cs typeface="Arial MT"/>
              </a:rPr>
              <a:t>--</a:t>
            </a:r>
            <a:r>
              <a:rPr sz="1600" spc="-10" dirty="0">
                <a:latin typeface="Arial MT"/>
                <a:cs typeface="Arial MT"/>
              </a:rPr>
              <a:t>version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300" y="3485505"/>
            <a:ext cx="5869940" cy="104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installed,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download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0688C"/>
                </a:solidFill>
                <a:uFill>
                  <a:solidFill>
                    <a:srgbClr val="00688C"/>
                  </a:solidFill>
                </a:uFill>
                <a:latin typeface="Arial MT"/>
                <a:cs typeface="Arial MT"/>
                <a:hlinkClick r:id="rId5"/>
              </a:rPr>
              <a:t>git-</a:t>
            </a:r>
            <a:r>
              <a:rPr sz="1800" u="heavy" spc="-10" dirty="0">
                <a:solidFill>
                  <a:srgbClr val="00688C"/>
                </a:solidFill>
                <a:uFill>
                  <a:solidFill>
                    <a:srgbClr val="00688C"/>
                  </a:solidFill>
                </a:uFill>
                <a:latin typeface="Arial MT"/>
                <a:cs typeface="Arial MT"/>
                <a:hlinkClick r:id="rId5"/>
              </a:rPr>
              <a:t>scm.com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800" dirty="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Configure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your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git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username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and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email: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7374" y="46775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90"/>
              </a:spcBef>
            </a:pPr>
            <a:r>
              <a:rPr sz="1600" dirty="0">
                <a:latin typeface="Arial MT"/>
                <a:cs typeface="Arial MT"/>
              </a:rPr>
              <a:t>git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config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--</a:t>
            </a:r>
            <a:r>
              <a:rPr sz="1600" dirty="0">
                <a:latin typeface="Arial MT"/>
                <a:cs typeface="Arial MT"/>
              </a:rPr>
              <a:t>global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user.name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"Your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Name"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374" y="53633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90"/>
              </a:spcBef>
            </a:pPr>
            <a:r>
              <a:rPr sz="1600" dirty="0">
                <a:latin typeface="Arial MT"/>
                <a:cs typeface="Arial MT"/>
              </a:rPr>
              <a:t>git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config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--</a:t>
            </a:r>
            <a:r>
              <a:rPr sz="1600" dirty="0">
                <a:latin typeface="Arial MT"/>
                <a:cs typeface="Arial MT"/>
              </a:rPr>
              <a:t>global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user.email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  <a:hlinkClick r:id="rId6"/>
              </a:rPr>
              <a:t>"your.email@example.com"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Authentication</a:t>
            </a:r>
            <a:r>
              <a:rPr spc="-65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-25" dirty="0"/>
              <a:t>SSH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0555" y="2304151"/>
            <a:ext cx="541845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5080" indent="-359410">
              <a:lnSpc>
                <a:spcPct val="114999"/>
              </a:lnSpc>
              <a:spcBef>
                <a:spcPts val="100"/>
              </a:spcBef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Generate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an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SSH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key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authenticate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with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GitHub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without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entering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password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every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time: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374" y="30773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90"/>
              </a:spcBef>
            </a:pPr>
            <a:r>
              <a:rPr sz="1600" spc="-10" dirty="0">
                <a:latin typeface="Arial MT"/>
                <a:cs typeface="Arial MT"/>
              </a:rPr>
              <a:t>ssh-</a:t>
            </a:r>
            <a:r>
              <a:rPr sz="1600" dirty="0">
                <a:latin typeface="Arial MT"/>
                <a:cs typeface="Arial MT"/>
              </a:rPr>
              <a:t>keygen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-</a:t>
            </a:r>
            <a:r>
              <a:rPr sz="1600" dirty="0">
                <a:latin typeface="Arial MT"/>
                <a:cs typeface="Arial MT"/>
              </a:rPr>
              <a:t>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ed25519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-</a:t>
            </a:r>
            <a:r>
              <a:rPr sz="1600" dirty="0">
                <a:latin typeface="Arial MT"/>
                <a:cs typeface="Arial MT"/>
              </a:rPr>
              <a:t>C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  <a:hlinkClick r:id="rId2"/>
              </a:rPr>
              <a:t>"your.email@example.com"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555" y="3706157"/>
            <a:ext cx="5288280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Press</a:t>
            </a:r>
            <a:r>
              <a:rPr sz="180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Enter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accept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default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save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location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optionally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set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passphrase.</a:t>
            </a:r>
            <a:endParaRPr sz="180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1695"/>
              </a:spcBef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Copy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SSH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Key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6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Your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Clipboard: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374" y="49823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30"/>
              </a:spcBef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macOS:</a:t>
            </a:r>
            <a:r>
              <a:rPr sz="1700" b="1" spc="-5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cat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~/.ssh/id_ed25519.pub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7374" y="55919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30"/>
              </a:spcBef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Linux: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cat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~/.ssh/id_ed25519.pub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3" name="object 3" descr="A screenshot of a GitHub &quot;SSH keys&quot; settings page showing two registered keys: one titled &quot;skey&quot; with recent activity, and another titled &quot;RSA&quot; that has never been used. Each entry includes a SHA256 fingerprint, the date added, and buttons to manage SSO or delete the key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8845" y="2366804"/>
            <a:ext cx="5450421" cy="2733566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94250" y="5247095"/>
            <a:ext cx="1871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https://github.blog/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720747"/>
            <a:ext cx="569214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Authentication</a:t>
            </a:r>
            <a:r>
              <a:rPr spc="-65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-25" dirty="0"/>
              <a:t>SSH</a:t>
            </a:r>
            <a:r>
              <a:rPr lang="en-US" spc="-25" dirty="0"/>
              <a:t> (cont.)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31800" algn="l"/>
              </a:tabLst>
            </a:pPr>
            <a:r>
              <a:rPr dirty="0"/>
              <a:t>Add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SSH</a:t>
            </a:r>
            <a:r>
              <a:rPr spc="-30" dirty="0"/>
              <a:t> </a:t>
            </a:r>
            <a:r>
              <a:rPr dirty="0"/>
              <a:t>key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dirty="0"/>
              <a:t>GitHub</a:t>
            </a:r>
            <a:r>
              <a:rPr spc="-35" dirty="0"/>
              <a:t> </a:t>
            </a:r>
            <a:r>
              <a:rPr spc="-10" dirty="0"/>
              <a:t>account:</a:t>
            </a:r>
          </a:p>
          <a:p>
            <a:pPr marL="431800" indent="-419100">
              <a:lnSpc>
                <a:spcPct val="100000"/>
              </a:lnSpc>
              <a:spcBef>
                <a:spcPts val="1520"/>
              </a:spcBef>
              <a:buAutoNum type="arabicPeriod"/>
              <a:tabLst>
                <a:tab pos="431800" algn="l"/>
              </a:tabLst>
            </a:pPr>
            <a:r>
              <a:rPr b="0" dirty="0">
                <a:latin typeface="Arial MT"/>
                <a:cs typeface="Arial MT"/>
              </a:rPr>
              <a:t>Go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dirty="0"/>
              <a:t>GitHub</a:t>
            </a:r>
            <a:r>
              <a:rPr spc="-20" dirty="0"/>
              <a:t> </a:t>
            </a:r>
            <a:r>
              <a:rPr dirty="0"/>
              <a:t>→</a:t>
            </a:r>
            <a:r>
              <a:rPr spc="-25" dirty="0"/>
              <a:t> </a:t>
            </a:r>
            <a:r>
              <a:rPr dirty="0"/>
              <a:t>Settings</a:t>
            </a:r>
            <a:r>
              <a:rPr spc="-20" dirty="0"/>
              <a:t> </a:t>
            </a:r>
            <a:r>
              <a:rPr dirty="0"/>
              <a:t>→</a:t>
            </a:r>
            <a:r>
              <a:rPr spc="-25" dirty="0"/>
              <a:t> </a:t>
            </a:r>
            <a:r>
              <a:rPr dirty="0"/>
              <a:t>SSH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GPG</a:t>
            </a:r>
            <a:r>
              <a:rPr spc="-20" dirty="0"/>
              <a:t> Keys</a:t>
            </a:r>
          </a:p>
          <a:p>
            <a:pPr marL="431800">
              <a:lnSpc>
                <a:spcPct val="100000"/>
              </a:lnSpc>
              <a:spcBef>
                <a:spcPts val="325"/>
              </a:spcBef>
            </a:pPr>
            <a:r>
              <a:rPr dirty="0"/>
              <a:t>→</a:t>
            </a:r>
            <a:r>
              <a:rPr spc="-15" dirty="0"/>
              <a:t> </a:t>
            </a:r>
            <a:r>
              <a:rPr dirty="0"/>
              <a:t>New</a:t>
            </a:r>
            <a:r>
              <a:rPr spc="-10" dirty="0"/>
              <a:t> </a:t>
            </a:r>
            <a:r>
              <a:rPr dirty="0"/>
              <a:t>SSH</a:t>
            </a:r>
            <a:r>
              <a:rPr spc="-10" dirty="0"/>
              <a:t> </a:t>
            </a:r>
            <a:r>
              <a:rPr spc="-20" dirty="0"/>
              <a:t>Key</a:t>
            </a:r>
            <a:r>
              <a:rPr b="0" spc="-20" dirty="0">
                <a:latin typeface="Arial MT"/>
                <a:cs typeface="Arial MT"/>
              </a:rPr>
              <a:t>.</a:t>
            </a: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 startAt="2"/>
              <a:tabLst>
                <a:tab pos="431800" algn="l"/>
              </a:tabLst>
            </a:pPr>
            <a:r>
              <a:rPr b="0" dirty="0">
                <a:latin typeface="Arial MT"/>
                <a:cs typeface="Arial MT"/>
              </a:rPr>
              <a:t>Paste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key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save.</a:t>
            </a:r>
          </a:p>
          <a:p>
            <a:pPr>
              <a:lnSpc>
                <a:spcPct val="100000"/>
              </a:lnSpc>
              <a:spcBef>
                <a:spcPts val="740"/>
              </a:spcBef>
              <a:buFont typeface="Arial MT"/>
              <a:buAutoNum type="arabicPeriod" startAt="2"/>
            </a:pPr>
            <a:endParaRPr b="0" spc="-10" dirty="0">
              <a:latin typeface="Arial MT"/>
              <a:cs typeface="Arial MT"/>
            </a:endParaRPr>
          </a:p>
          <a:p>
            <a:pPr marL="431800" lvl="1" indent="-367030">
              <a:lnSpc>
                <a:spcPct val="100000"/>
              </a:lnSpc>
              <a:buChar char="●"/>
              <a:tabLst>
                <a:tab pos="431800" algn="l"/>
              </a:tabLst>
            </a:pP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Test</a:t>
            </a:r>
            <a:r>
              <a:rPr sz="18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SSH</a:t>
            </a:r>
            <a:r>
              <a:rPr sz="18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Connection: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374" y="4829974"/>
            <a:ext cx="580517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ssh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  <a:hlinkClick r:id="rId2"/>
              </a:rPr>
              <a:t>git@github.com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8845" y="2366804"/>
            <a:ext cx="5450420" cy="2733566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94250" y="5247095"/>
            <a:ext cx="1871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https://github.blog/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70" dirty="0"/>
              <a:t> </a:t>
            </a:r>
            <a:r>
              <a:rPr dirty="0"/>
              <a:t>Git</a:t>
            </a:r>
            <a:r>
              <a:rPr spc="-6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6699" y="2310806"/>
            <a:ext cx="274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Initialize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repository: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7975" y="26963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init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6699" y="3301406"/>
            <a:ext cx="2219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Add</a:t>
            </a:r>
            <a:r>
              <a:rPr sz="18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all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changes: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7975" y="36869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add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6699" y="4292006"/>
            <a:ext cx="2310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Commit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changes: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7975" y="46775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commit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-m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&lt;message&gt;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4430" y="5283113"/>
            <a:ext cx="49517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100"/>
              </a:spcBef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Push</a:t>
            </a:r>
            <a:r>
              <a:rPr sz="1700" b="1" spc="-5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Changes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Remote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Repository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7975" y="56681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push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u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origin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master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" name="object 2" descr="Comprehensive Git Workflow Diagram&#10;An infographic titled &quot;Git workflow&quot; illustrating the movement of data between Local and Remote environments. It shows commands like &quot;git add&quot; moving files from the Working directory to Staging, &quot;git commit&quot; moving them to the Local repository, and &quot;git push&quot; sending them to Remote. It also features a &quot;Stash&quot; section for temporary storage and &quot;git pull/fetch&quot; for retrieving data from the Remote repository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0274" y="946025"/>
            <a:ext cx="4645750" cy="5728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Add</a:t>
            </a:r>
            <a:r>
              <a:rPr sz="2300" spc="-50" dirty="0"/>
              <a:t> </a:t>
            </a:r>
            <a:r>
              <a:rPr sz="2300" dirty="0"/>
              <a:t>Files</a:t>
            </a:r>
            <a:r>
              <a:rPr sz="2300" spc="-45" dirty="0"/>
              <a:t> </a:t>
            </a:r>
            <a:r>
              <a:rPr sz="2300" dirty="0"/>
              <a:t>to</a:t>
            </a:r>
            <a:r>
              <a:rPr sz="2300" spc="-45" dirty="0"/>
              <a:t> </a:t>
            </a:r>
            <a:r>
              <a:rPr sz="2300" dirty="0"/>
              <a:t>It</a:t>
            </a:r>
            <a:r>
              <a:rPr sz="2300" spc="-50" dirty="0"/>
              <a:t> </a:t>
            </a:r>
            <a:r>
              <a:rPr sz="2300" dirty="0"/>
              <a:t>and</a:t>
            </a:r>
            <a:r>
              <a:rPr sz="2300" spc="-45" dirty="0"/>
              <a:t> </a:t>
            </a:r>
            <a:r>
              <a:rPr sz="2300" dirty="0"/>
              <a:t>Push</a:t>
            </a:r>
            <a:r>
              <a:rPr sz="2300" spc="-45" dirty="0"/>
              <a:t> </a:t>
            </a:r>
            <a:r>
              <a:rPr sz="2300" dirty="0"/>
              <a:t>It</a:t>
            </a:r>
            <a:r>
              <a:rPr sz="2300" spc="-45" dirty="0"/>
              <a:t> </a:t>
            </a:r>
            <a:r>
              <a:rPr sz="2300" dirty="0"/>
              <a:t>to</a:t>
            </a:r>
            <a:r>
              <a:rPr sz="2300" spc="-50" dirty="0"/>
              <a:t> </a:t>
            </a:r>
            <a:r>
              <a:rPr sz="2300" dirty="0"/>
              <a:t>the</a:t>
            </a:r>
            <a:r>
              <a:rPr sz="2300" spc="-45" dirty="0"/>
              <a:t> </a:t>
            </a:r>
            <a:r>
              <a:rPr sz="2300" spc="-10" dirty="0"/>
              <a:t>Repository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6426599" y="1028700"/>
            <a:ext cx="5420360" cy="5674995"/>
          </a:xfrm>
          <a:prstGeom prst="rect">
            <a:avLst/>
          </a:prstGeom>
          <a:solidFill>
            <a:srgbClr val="CEE1F3"/>
          </a:solidFill>
          <a:ln w="9524">
            <a:solidFill>
              <a:srgbClr val="0F2044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456565" indent="-182880">
              <a:lnSpc>
                <a:spcPct val="100000"/>
              </a:lnSpc>
              <a:spcBef>
                <a:spcPts val="1075"/>
              </a:spcBef>
              <a:buFont typeface="Arial"/>
              <a:buAutoNum type="arabicPeriod"/>
              <a:tabLst>
                <a:tab pos="456565" algn="l"/>
              </a:tabLst>
            </a:pPr>
            <a:r>
              <a:rPr sz="1300" b="1" dirty="0">
                <a:latin typeface="Courier New"/>
                <a:cs typeface="Courier New"/>
              </a:rPr>
              <a:t>git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20" dirty="0">
                <a:latin typeface="Courier New"/>
                <a:cs typeface="Courier New"/>
              </a:rPr>
              <a:t>push</a:t>
            </a:r>
            <a:endParaRPr sz="1300" dirty="0">
              <a:latin typeface="Courier New"/>
              <a:cs typeface="Courier New"/>
            </a:endParaRPr>
          </a:p>
          <a:p>
            <a:pPr marL="730885" marR="678180" lvl="1" indent="-313055">
              <a:lnSpc>
                <a:spcPct val="114999"/>
              </a:lnSpc>
              <a:spcBef>
                <a:spcPts val="1245"/>
              </a:spcBef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upload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local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repository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changes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dirty="0">
                <a:latin typeface="Arial MT"/>
                <a:cs typeface="Arial MT"/>
              </a:rPr>
              <a:t>remote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repository.</a:t>
            </a:r>
            <a:endParaRPr sz="1100" dirty="0">
              <a:latin typeface="Arial MT"/>
              <a:cs typeface="Arial MT"/>
            </a:endParaRPr>
          </a:p>
          <a:p>
            <a:pPr marL="730885" marR="405130" lvl="1" indent="-313055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sends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commits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branch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corresponding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branch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remote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repository.</a:t>
            </a:r>
            <a:endParaRPr sz="11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56565" indent="-182880">
              <a:lnSpc>
                <a:spcPct val="100000"/>
              </a:lnSpc>
              <a:buFont typeface="Arial"/>
              <a:buAutoNum type="arabicPeriod"/>
              <a:tabLst>
                <a:tab pos="456565" algn="l"/>
              </a:tabLst>
            </a:pP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u</a:t>
            </a:r>
            <a:r>
              <a:rPr sz="1300" b="1" spc="-42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Arial"/>
                <a:cs typeface="Arial"/>
              </a:rPr>
              <a:t>(or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--set-upstream</a:t>
            </a:r>
            <a:r>
              <a:rPr sz="1300" b="1" spc="-10" dirty="0">
                <a:latin typeface="Arial"/>
                <a:cs typeface="Arial"/>
              </a:rPr>
              <a:t>)</a:t>
            </a:r>
            <a:endParaRPr sz="1300" dirty="0">
              <a:latin typeface="Arial"/>
              <a:cs typeface="Arial"/>
            </a:endParaRPr>
          </a:p>
          <a:p>
            <a:pPr marL="730885" lvl="1" indent="-313055">
              <a:lnSpc>
                <a:spcPct val="100000"/>
              </a:lnSpc>
              <a:spcBef>
                <a:spcPts val="1440"/>
              </a:spcBef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flag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sets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upstream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branch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branch.</a:t>
            </a:r>
            <a:endParaRPr sz="1100" dirty="0">
              <a:latin typeface="Arial MT"/>
              <a:cs typeface="Arial MT"/>
            </a:endParaRPr>
          </a:p>
          <a:p>
            <a:pPr marL="730885" marR="446405" lvl="1" indent="-313055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links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branch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case,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Courier New"/>
                <a:cs typeface="Courier New"/>
              </a:rPr>
              <a:t>master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remote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branch </a:t>
            </a:r>
            <a:r>
              <a:rPr sz="1100" dirty="0">
                <a:latin typeface="Arial MT"/>
                <a:cs typeface="Arial MT"/>
              </a:rPr>
              <a:t>(on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origin</a:t>
            </a:r>
            <a:r>
              <a:rPr sz="1100" spc="-10" dirty="0">
                <a:latin typeface="Arial MT"/>
                <a:cs typeface="Arial MT"/>
              </a:rPr>
              <a:t>).</a:t>
            </a:r>
            <a:endParaRPr sz="1100" dirty="0">
              <a:latin typeface="Arial MT"/>
              <a:cs typeface="Arial MT"/>
            </a:endParaRPr>
          </a:p>
          <a:p>
            <a:pPr marL="730885" marR="508000" lvl="1" indent="-313055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After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running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once,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future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Courier New"/>
                <a:cs typeface="Courier New"/>
              </a:rPr>
              <a:t>git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push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Courier New"/>
                <a:cs typeface="Courier New"/>
              </a:rPr>
              <a:t>git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pull </a:t>
            </a:r>
            <a:r>
              <a:rPr sz="1100" dirty="0">
                <a:latin typeface="Arial MT"/>
                <a:cs typeface="Arial MT"/>
              </a:rPr>
              <a:t>commands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executed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without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specifying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remote</a:t>
            </a:r>
            <a:r>
              <a:rPr sz="1100" b="1" spc="-25" dirty="0">
                <a:latin typeface="Arial"/>
                <a:cs typeface="Arial"/>
              </a:rPr>
              <a:t> and </a:t>
            </a:r>
            <a:r>
              <a:rPr sz="1100" b="1" dirty="0">
                <a:latin typeface="Arial"/>
                <a:cs typeface="Arial"/>
              </a:rPr>
              <a:t>branch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name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56565" indent="-182880">
              <a:lnSpc>
                <a:spcPct val="100000"/>
              </a:lnSpc>
              <a:buFont typeface="Arial"/>
              <a:buAutoNum type="arabicPeriod"/>
              <a:tabLst>
                <a:tab pos="456565" algn="l"/>
              </a:tabLst>
            </a:pPr>
            <a:r>
              <a:rPr sz="1300" b="1" spc="-10" dirty="0">
                <a:latin typeface="Courier New"/>
                <a:cs typeface="Courier New"/>
              </a:rPr>
              <a:t>origin</a:t>
            </a:r>
            <a:endParaRPr sz="1300" dirty="0">
              <a:latin typeface="Courier New"/>
              <a:cs typeface="Courier New"/>
            </a:endParaRPr>
          </a:p>
          <a:p>
            <a:pPr marL="730885" marR="701040" lvl="1" indent="-313055">
              <a:lnSpc>
                <a:spcPct val="114999"/>
              </a:lnSpc>
              <a:spcBef>
                <a:spcPts val="1245"/>
              </a:spcBef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default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remote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repository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where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code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is </a:t>
            </a:r>
            <a:r>
              <a:rPr sz="1100" spc="-10" dirty="0">
                <a:latin typeface="Arial MT"/>
                <a:cs typeface="Arial MT"/>
              </a:rPr>
              <a:t>stored.</a:t>
            </a:r>
            <a:endParaRPr sz="1100" dirty="0">
              <a:latin typeface="Arial MT"/>
              <a:cs typeface="Arial MT"/>
            </a:endParaRPr>
          </a:p>
          <a:p>
            <a:pPr marL="730885" marR="632460" lvl="1" indent="-313055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When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clone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repository,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Git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automatically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original </a:t>
            </a:r>
            <a:r>
              <a:rPr sz="1100" dirty="0">
                <a:latin typeface="Arial MT"/>
                <a:cs typeface="Arial MT"/>
              </a:rPr>
              <a:t>repository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origin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56565" indent="-182880">
              <a:lnSpc>
                <a:spcPct val="100000"/>
              </a:lnSpc>
              <a:buFont typeface="Arial"/>
              <a:buAutoNum type="arabicPeriod"/>
              <a:tabLst>
                <a:tab pos="456565" algn="l"/>
              </a:tabLst>
            </a:pPr>
            <a:r>
              <a:rPr sz="1300" b="1" spc="-10" dirty="0">
                <a:latin typeface="Courier New"/>
                <a:cs typeface="Courier New"/>
              </a:rPr>
              <a:t>master</a:t>
            </a:r>
            <a:endParaRPr sz="1300" dirty="0">
              <a:latin typeface="Courier New"/>
              <a:cs typeface="Courier New"/>
            </a:endParaRPr>
          </a:p>
          <a:p>
            <a:pPr marL="730885" lvl="1" indent="-313055">
              <a:lnSpc>
                <a:spcPct val="100000"/>
              </a:lnSpc>
              <a:spcBef>
                <a:spcPts val="1445"/>
              </a:spcBef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branch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name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you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pushing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remote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repository.</a:t>
            </a:r>
            <a:endParaRPr sz="1100" dirty="0">
              <a:latin typeface="Arial MT"/>
              <a:cs typeface="Arial MT"/>
            </a:endParaRPr>
          </a:p>
          <a:p>
            <a:pPr marL="730885" marR="485775" lvl="1" indent="-313055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default,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branch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called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master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older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repositories,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versions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main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default.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6699" y="2310806"/>
            <a:ext cx="274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Initialize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repository: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67975" y="26963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init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6699" y="3301406"/>
            <a:ext cx="2219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Add</a:t>
            </a:r>
            <a:r>
              <a:rPr sz="18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all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changes: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67975" y="36869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add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6699" y="4292006"/>
            <a:ext cx="2310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Commit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changes: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67975" y="46775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commit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-m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&lt;message&gt;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94430" y="5283113"/>
            <a:ext cx="49517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100"/>
              </a:spcBef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Push</a:t>
            </a:r>
            <a:r>
              <a:rPr sz="1700" b="1" spc="-5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Changes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Remote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Repository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67975" y="56681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push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u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origin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master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4" y="1720747"/>
            <a:ext cx="6142826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Add</a:t>
            </a:r>
            <a:r>
              <a:rPr sz="2300" spc="-50" dirty="0"/>
              <a:t> </a:t>
            </a:r>
            <a:r>
              <a:rPr sz="2300" dirty="0"/>
              <a:t>Files</a:t>
            </a:r>
            <a:r>
              <a:rPr sz="2300" spc="-45" dirty="0"/>
              <a:t> </a:t>
            </a:r>
            <a:r>
              <a:rPr sz="2300" dirty="0"/>
              <a:t>to</a:t>
            </a:r>
            <a:r>
              <a:rPr sz="2300" spc="-45" dirty="0"/>
              <a:t> </a:t>
            </a:r>
            <a:r>
              <a:rPr sz="2300" dirty="0"/>
              <a:t>It</a:t>
            </a:r>
            <a:r>
              <a:rPr sz="2300" spc="-50" dirty="0"/>
              <a:t> </a:t>
            </a:r>
            <a:r>
              <a:rPr sz="2300" dirty="0"/>
              <a:t>and</a:t>
            </a:r>
            <a:r>
              <a:rPr sz="2300" spc="-45" dirty="0"/>
              <a:t> </a:t>
            </a:r>
            <a:r>
              <a:rPr sz="2300" dirty="0"/>
              <a:t>Push</a:t>
            </a:r>
            <a:r>
              <a:rPr sz="2300" spc="-45" dirty="0"/>
              <a:t> </a:t>
            </a:r>
            <a:r>
              <a:rPr sz="2300" dirty="0"/>
              <a:t>It</a:t>
            </a:r>
            <a:r>
              <a:rPr sz="2300" spc="-45" dirty="0"/>
              <a:t> </a:t>
            </a:r>
            <a:r>
              <a:rPr sz="2300" dirty="0"/>
              <a:t>to</a:t>
            </a:r>
            <a:r>
              <a:rPr sz="2300" spc="-50" dirty="0"/>
              <a:t> </a:t>
            </a:r>
            <a:r>
              <a:rPr sz="2300" dirty="0"/>
              <a:t>the</a:t>
            </a:r>
            <a:r>
              <a:rPr sz="2300" spc="-45" dirty="0"/>
              <a:t> </a:t>
            </a:r>
            <a:r>
              <a:rPr sz="2300" spc="-10" dirty="0"/>
              <a:t>Repository</a:t>
            </a:r>
            <a:r>
              <a:rPr lang="en-US" sz="2300" spc="-10" dirty="0"/>
              <a:t> (2)</a:t>
            </a:r>
            <a:endParaRPr sz="2300" dirty="0"/>
          </a:p>
        </p:txBody>
      </p:sp>
      <p:sp>
        <p:nvSpPr>
          <p:cNvPr id="4" name="object 4"/>
          <p:cNvSpPr txBox="1"/>
          <p:nvPr/>
        </p:nvSpPr>
        <p:spPr>
          <a:xfrm>
            <a:off x="6426599" y="1028700"/>
            <a:ext cx="5420360" cy="5674995"/>
          </a:xfrm>
          <a:prstGeom prst="rect">
            <a:avLst/>
          </a:prstGeom>
          <a:solidFill>
            <a:srgbClr val="D9EAD3"/>
          </a:solidFill>
          <a:ln w="9524">
            <a:solidFill>
              <a:srgbClr val="0F2044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1065"/>
              </a:spcBef>
            </a:pPr>
            <a:r>
              <a:rPr sz="1600" b="1" dirty="0">
                <a:latin typeface="Courier New"/>
                <a:cs typeface="Courier New"/>
              </a:rPr>
              <a:t>git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remote</a:t>
            </a:r>
            <a:endParaRPr sz="1600" dirty="0">
              <a:latin typeface="Courier New"/>
              <a:cs typeface="Courier New"/>
            </a:endParaRPr>
          </a:p>
          <a:p>
            <a:pPr marL="730885" indent="-351790">
              <a:lnSpc>
                <a:spcPct val="100000"/>
              </a:lnSpc>
              <a:spcBef>
                <a:spcPts val="1200"/>
              </a:spcBef>
              <a:buChar char="●"/>
              <a:tabLst>
                <a:tab pos="730885" algn="l"/>
              </a:tabLst>
            </a:pPr>
            <a:r>
              <a:rPr sz="1600" dirty="0">
                <a:latin typeface="Arial MT"/>
                <a:cs typeface="Arial MT"/>
              </a:rPr>
              <a:t>Manages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connections.</a:t>
            </a:r>
            <a:endParaRPr sz="1600" dirty="0">
              <a:latin typeface="Arial MT"/>
              <a:cs typeface="Arial MT"/>
            </a:endParaRPr>
          </a:p>
          <a:p>
            <a:pPr marL="730885" marR="1014730" indent="-351790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600" dirty="0">
                <a:latin typeface="Arial MT"/>
                <a:cs typeface="Arial MT"/>
              </a:rPr>
              <a:t>Allows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remove,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list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remote repositories.</a:t>
            </a:r>
            <a:endParaRPr sz="1600" dirty="0">
              <a:latin typeface="Arial MT"/>
              <a:cs typeface="Arial MT"/>
            </a:endParaRPr>
          </a:p>
          <a:p>
            <a:pPr marL="273685">
              <a:lnSpc>
                <a:spcPct val="100000"/>
              </a:lnSpc>
              <a:spcBef>
                <a:spcPts val="1485"/>
              </a:spcBef>
            </a:pPr>
            <a:r>
              <a:rPr sz="1600" b="1" spc="-25" dirty="0">
                <a:latin typeface="Courier New"/>
                <a:cs typeface="Courier New"/>
              </a:rPr>
              <a:t>add</a:t>
            </a:r>
            <a:endParaRPr sz="1600" dirty="0">
              <a:latin typeface="Courier New"/>
              <a:cs typeface="Courier New"/>
            </a:endParaRPr>
          </a:p>
          <a:p>
            <a:pPr marL="730885" marR="516255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730885" algn="l"/>
              </a:tabLst>
            </a:pPr>
            <a:r>
              <a:rPr sz="1600" dirty="0">
                <a:latin typeface="Arial MT"/>
                <a:cs typeface="Arial MT"/>
              </a:rPr>
              <a:t>Adds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new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Git </a:t>
            </a:r>
            <a:r>
              <a:rPr sz="1600" spc="-10" dirty="0">
                <a:latin typeface="Arial MT"/>
                <a:cs typeface="Arial MT"/>
              </a:rPr>
              <a:t>project.</a:t>
            </a:r>
            <a:endParaRPr sz="1600" dirty="0">
              <a:latin typeface="Arial MT"/>
              <a:cs typeface="Arial MT"/>
            </a:endParaRPr>
          </a:p>
          <a:p>
            <a:pPr marL="273685">
              <a:lnSpc>
                <a:spcPct val="100000"/>
              </a:lnSpc>
              <a:spcBef>
                <a:spcPts val="1490"/>
              </a:spcBef>
            </a:pPr>
            <a:r>
              <a:rPr sz="1600" b="1" spc="-10" dirty="0">
                <a:latin typeface="Courier New"/>
                <a:cs typeface="Courier New"/>
              </a:rPr>
              <a:t>origin</a:t>
            </a:r>
            <a:endParaRPr sz="1600" dirty="0">
              <a:latin typeface="Courier New"/>
              <a:cs typeface="Courier New"/>
            </a:endParaRPr>
          </a:p>
          <a:p>
            <a:pPr marL="730885" marR="650875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730885" algn="l"/>
              </a:tabLst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default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name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given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remote repository.</a:t>
            </a:r>
            <a:endParaRPr sz="1600" dirty="0">
              <a:latin typeface="Arial MT"/>
              <a:cs typeface="Arial MT"/>
            </a:endParaRPr>
          </a:p>
          <a:p>
            <a:pPr marL="730885" marR="422909" indent="-351790">
              <a:lnSpc>
                <a:spcPct val="114999"/>
              </a:lnSpc>
              <a:buChar char="●"/>
              <a:tabLst>
                <a:tab pos="730885" algn="l"/>
              </a:tabLst>
            </a:pPr>
            <a:r>
              <a:rPr sz="1600" spc="-25" dirty="0">
                <a:latin typeface="Arial MT"/>
                <a:cs typeface="Arial MT"/>
              </a:rPr>
              <a:t>You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name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something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else,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origin</a:t>
            </a:r>
            <a:r>
              <a:rPr sz="1600" spc="-520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Arial MT"/>
                <a:cs typeface="Arial MT"/>
              </a:rPr>
              <a:t>is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convention.</a:t>
            </a:r>
            <a:endParaRPr sz="1600" dirty="0">
              <a:latin typeface="Arial MT"/>
              <a:cs typeface="Arial MT"/>
            </a:endParaRPr>
          </a:p>
          <a:p>
            <a:pPr marL="273685">
              <a:lnSpc>
                <a:spcPct val="100000"/>
              </a:lnSpc>
              <a:spcBef>
                <a:spcPts val="1490"/>
              </a:spcBef>
            </a:pPr>
            <a:r>
              <a:rPr sz="1600" b="1" spc="-10" dirty="0">
                <a:latin typeface="Courier New"/>
                <a:cs typeface="Courier New"/>
              </a:rPr>
              <a:t>&lt;repository_url&gt;</a:t>
            </a:r>
            <a:endParaRPr sz="1600" dirty="0">
              <a:latin typeface="Courier New"/>
              <a:cs typeface="Courier New"/>
            </a:endParaRPr>
          </a:p>
          <a:p>
            <a:pPr marL="730885" marR="581025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73088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URL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GitHub, </a:t>
            </a:r>
            <a:r>
              <a:rPr sz="1600" dirty="0">
                <a:latin typeface="Arial MT"/>
                <a:cs typeface="Arial MT"/>
              </a:rPr>
              <a:t>GitLab,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Bitbucket,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etc.).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030" y="2304151"/>
            <a:ext cx="5267325" cy="27070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05"/>
              </a:spcBef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New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Repository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on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GitHub</a:t>
            </a:r>
            <a:endParaRPr sz="1700">
              <a:latin typeface="Arial"/>
              <a:cs typeface="Arial"/>
            </a:endParaRPr>
          </a:p>
          <a:p>
            <a:pPr marL="828675" lvl="1" indent="-358775">
              <a:lnSpc>
                <a:spcPct val="100000"/>
              </a:lnSpc>
              <a:spcBef>
                <a:spcPts val="305"/>
              </a:spcBef>
              <a:buChar char="○"/>
              <a:tabLst>
                <a:tab pos="82867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Go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GitHub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log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your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account.</a:t>
            </a:r>
            <a:endParaRPr sz="1700">
              <a:latin typeface="Arial MT"/>
              <a:cs typeface="Arial MT"/>
            </a:endParaRPr>
          </a:p>
          <a:p>
            <a:pPr marL="828675" marR="27305" lvl="1" indent="-359410">
              <a:lnSpc>
                <a:spcPct val="114999"/>
              </a:lnSpc>
              <a:buChar char="○"/>
              <a:tabLst>
                <a:tab pos="82867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Click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"+"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icon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upper-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right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corner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select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"New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repository."</a:t>
            </a:r>
            <a:endParaRPr sz="1700">
              <a:latin typeface="Arial MT"/>
              <a:cs typeface="Arial MT"/>
            </a:endParaRPr>
          </a:p>
          <a:p>
            <a:pPr marL="828675" marR="5080" lvl="1" indent="-359410">
              <a:lnSpc>
                <a:spcPct val="114999"/>
              </a:lnSpc>
              <a:buChar char="○"/>
              <a:tabLst>
                <a:tab pos="82867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Name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your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repository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(e.g.,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my-new-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repo)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click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"Create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repository."</a:t>
            </a:r>
            <a:endParaRPr sz="17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90"/>
              </a:spcBef>
              <a:buClr>
                <a:srgbClr val="0F2044"/>
              </a:buClr>
              <a:buFont typeface="Arial MT"/>
              <a:buChar char="○"/>
            </a:pPr>
            <a:endParaRPr sz="1700">
              <a:latin typeface="Arial MT"/>
              <a:cs typeface="Arial MT"/>
            </a:endParaRPr>
          </a:p>
          <a:p>
            <a:pPr marL="371475" marR="807720" indent="-359410">
              <a:lnSpc>
                <a:spcPct val="114999"/>
              </a:lnSpc>
              <a:buChar char="●"/>
              <a:tabLst>
                <a:tab pos="371475" algn="l"/>
              </a:tabLst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Link</a:t>
            </a:r>
            <a:r>
              <a:rPr sz="1700" b="1" spc="-7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Your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Local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Repository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Remote Repository: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4575" y="5134774"/>
            <a:ext cx="488442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3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remote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add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origin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&lt;repository_url&gt;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Clone</a:t>
            </a:r>
            <a:r>
              <a:rPr spc="-80" dirty="0"/>
              <a:t> </a:t>
            </a:r>
            <a:r>
              <a:rPr dirty="0"/>
              <a:t>an</a:t>
            </a:r>
            <a:r>
              <a:rPr spc="-75" dirty="0"/>
              <a:t> </a:t>
            </a:r>
            <a:r>
              <a:rPr dirty="0"/>
              <a:t>Existing</a:t>
            </a:r>
            <a:r>
              <a:rPr spc="-75" dirty="0"/>
              <a:t> </a:t>
            </a:r>
            <a:r>
              <a:rPr dirty="0"/>
              <a:t>GitHub</a:t>
            </a:r>
            <a:r>
              <a:rPr spc="-80" dirty="0"/>
              <a:t> </a:t>
            </a:r>
            <a:r>
              <a:rPr spc="-10" dirty="0"/>
              <a:t>Repository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2699" y="2723505"/>
            <a:ext cx="255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Clone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Repository: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549" y="3088300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clone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&lt;repository_url&gt;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699" y="3714105"/>
            <a:ext cx="3084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Clone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Specific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Branch: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549" y="4078899"/>
            <a:ext cx="546735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clone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branch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&lt;branch_name&gt;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&lt;repository_url&gt;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Git Clone Concept&#10;A simple conceptual graphic titled &quot;CLONE&quot; against a dark background. It features two orange filing bins labeled &quot;Git Repository.&quot; A white curved arrow points from the left bin to the right bin, which is labeled &quot;Git Repository (exact copy),&quot; illustrating the process of duplicating a repository.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500" y="2170723"/>
            <a:ext cx="5512923" cy="3138699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15925" y="5421345"/>
            <a:ext cx="2345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3"/>
              </a:rPr>
              <a:t>https://www.gitkraken.com/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Track</a:t>
            </a:r>
            <a:r>
              <a:rPr spc="-90" dirty="0"/>
              <a:t> </a:t>
            </a:r>
            <a:r>
              <a:rPr spc="-10" dirty="0"/>
              <a:t>Differences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6699" y="2539406"/>
            <a:ext cx="4264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Check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Status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Repository: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7975" y="29249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status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6699" y="3530006"/>
            <a:ext cx="4446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See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Differences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</a:t>
            </a:r>
            <a:r>
              <a:rPr sz="1800" b="1" spc="-7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Your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Changes: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7975" y="39155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diff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6699" y="4479458"/>
            <a:ext cx="431355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Compare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Local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Branch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with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Remote Branch: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7975" y="52871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log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HEAD..origin/master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7975" y="58967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diff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HEAD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origin/master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 descr="Git Diff / Code Review View&#10;A screenshot of a code &quot;diff&quot; showing changes to a file named style.css. The header indicates &quot;1 changed file with 3 additions and 3 deletions.&quot; The code view uses color-coding: red highlights with minus signs indicate deleted lines (such as a CSS class change), while green highlights with plus signs indicate added lines (including a new margin: auto; property)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4600" y="2278625"/>
            <a:ext cx="5643099" cy="3611574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94250" y="6085295"/>
            <a:ext cx="23101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3"/>
              </a:rPr>
              <a:t>https://www.hongkiat.com/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Pulling</a:t>
            </a:r>
            <a:r>
              <a:rPr spc="-30" dirty="0"/>
              <a:t> </a:t>
            </a:r>
            <a:r>
              <a:rPr dirty="0"/>
              <a:t>Changes</a:t>
            </a:r>
            <a:r>
              <a:rPr spc="-25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Cloud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8099" y="3149006"/>
            <a:ext cx="3312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Fetch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Latest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Changes: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9375" y="35345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fetch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origin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099" y="4139606"/>
            <a:ext cx="2956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Decide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Whether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Pull: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375" y="45251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pull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origin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master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Simplified Git Command Flow&#10;A red and white diagram illustrating the circular relationship between Git environments. Solid red arrows highlight the flow from a Remote cylinder to a Repository box via fetch, and directly to a Workspace box via pull. Dotted grey arrows show the return path: from Workspace to Index via add, then to Repository via commit, and finally back to Remote via push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0275" y="2641726"/>
            <a:ext cx="6476373" cy="2831924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94250" y="5780495"/>
            <a:ext cx="2270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Alireza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Stack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Overflow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spc="-60" dirty="0"/>
              <a:t> </a:t>
            </a:r>
            <a:r>
              <a:rPr spc="-10" dirty="0"/>
              <a:t>Branching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Merging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8099" y="2628306"/>
            <a:ext cx="27622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lr>
                <a:srgbClr val="0F2044"/>
              </a:buClr>
              <a:buSzPct val="105882"/>
              <a:buChar char="●"/>
              <a:tabLst>
                <a:tab pos="379095" algn="l"/>
              </a:tabLst>
            </a:pPr>
            <a:r>
              <a:rPr sz="1700" b="1" dirty="0">
                <a:latin typeface="Arial"/>
                <a:cs typeface="Arial"/>
              </a:rPr>
              <a:t>View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current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status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9375" y="30011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status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099" y="3606206"/>
            <a:ext cx="2625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new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branch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375" y="39917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branch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feature-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xyz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8099" y="4596806"/>
            <a:ext cx="292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Switch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new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branch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9375" y="4982374"/>
            <a:ext cx="3059430" cy="462280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checkout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feature-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xyz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 descr="Branching and Merging Timeline&#10;A timeline diagram showing two parallel branches: a blue &quot;master&quot; branch and a green &quot;new_feature&quot; branch. It illustrates a &quot;branch&quot; event where work splits from master into the feature branch and a later &quot;merge&quot; event where those changes are integrated back into the master branch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6650" y="2279141"/>
            <a:ext cx="6422947" cy="2357903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94250" y="4789894"/>
            <a:ext cx="328167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https://gitbookdown.dallasdatascience.com/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Repository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GitHub</a:t>
            </a:r>
            <a:r>
              <a:rPr spc="-70" dirty="0"/>
              <a:t> </a:t>
            </a:r>
            <a:r>
              <a:rPr spc="-20" dirty="0"/>
              <a:t>User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8099" y="2222056"/>
            <a:ext cx="3155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View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Commit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History: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1480" y="2587057"/>
            <a:ext cx="2959100" cy="441325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8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log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099" y="3167324"/>
            <a:ext cx="3625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View</a:t>
            </a:r>
            <a:r>
              <a:rPr sz="18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Remote</a:t>
            </a:r>
            <a:r>
              <a:rPr sz="18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Repository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Info: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1480" y="3532325"/>
            <a:ext cx="2959100" cy="441325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8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remote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v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099" y="4112591"/>
            <a:ext cx="232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List</a:t>
            </a:r>
            <a:r>
              <a:rPr sz="1800" b="1" spc="-7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All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 Branches: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1480" y="4477593"/>
            <a:ext cx="2959100" cy="441325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8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branch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8099" y="4985146"/>
            <a:ext cx="1800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List</a:t>
            </a:r>
            <a:r>
              <a:rPr sz="1800" b="1" spc="-8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All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Tags: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1480" y="5350148"/>
            <a:ext cx="2959100" cy="441325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8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tag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8099" y="5857702"/>
            <a:ext cx="302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View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Specific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Commit: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1480" y="6222703"/>
            <a:ext cx="2959100" cy="441325"/>
          </a:xfrm>
          <a:prstGeom prst="rect">
            <a:avLst/>
          </a:prstGeom>
          <a:ln w="19049">
            <a:solidFill>
              <a:srgbClr val="A00C3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8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 show</a:t>
            </a:r>
            <a:r>
              <a:rPr sz="1800" spc="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&lt;commit-hash&gt;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2250" y="1515375"/>
            <a:ext cx="6509034" cy="4659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866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MT</vt:lpstr>
      <vt:lpstr>Courier New</vt:lpstr>
      <vt:lpstr>Georgia</vt:lpstr>
      <vt:lpstr>Office Theme</vt:lpstr>
      <vt:lpstr>CSC 362: System Programming</vt:lpstr>
      <vt:lpstr>Status Check</vt:lpstr>
      <vt:lpstr>Install Git</vt:lpstr>
      <vt:lpstr>Authentication Using SSH</vt:lpstr>
      <vt:lpstr>Authentication Using SSH (cont.)</vt:lpstr>
      <vt:lpstr>Basic Git Workflow</vt:lpstr>
      <vt:lpstr>Add Files to It and Push It to the Repository</vt:lpstr>
      <vt:lpstr>Add Files to It and Push It to the Repository (2)</vt:lpstr>
      <vt:lpstr>Clone an Existing GitHub Repository</vt:lpstr>
      <vt:lpstr>Track Differences</vt:lpstr>
      <vt:lpstr>Pulling Changes from the Cloud</vt:lpstr>
      <vt:lpstr>Git Branching and Merging</vt:lpstr>
      <vt:lpstr>The Repository and GitHub User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4.pptx</dc:title>
  <cp:lastModifiedBy>Richard Johnson</cp:lastModifiedBy>
  <cp:revision>5</cp:revision>
  <dcterms:created xsi:type="dcterms:W3CDTF">2026-01-14T00:58:03Z</dcterms:created>
  <dcterms:modified xsi:type="dcterms:W3CDTF">2026-01-16T17:26:07Z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